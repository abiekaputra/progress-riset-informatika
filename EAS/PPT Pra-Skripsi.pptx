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Neue Machina Ultra-Bold" charset="1" panose="00000900000000000000"/>
      <p:regular r:id="rId22"/>
    </p:embeddedFont>
    <p:embeddedFont>
      <p:font typeface="Public Sans Bold" charset="1" panose="00000000000000000000"/>
      <p:regular r:id="rId23"/>
    </p:embeddedFont>
    <p:embeddedFont>
      <p:font typeface="Public Sans" charset="1" panose="00000000000000000000"/>
      <p:regular r:id="rId24"/>
    </p:embeddedFont>
    <p:embeddedFont>
      <p:font typeface="Public Sans Bold Italics" charset="1" panose="00000000000000000000"/>
      <p:regular r:id="rId25"/>
    </p:embeddedFont>
    <p:embeddedFont>
      <p:font typeface="Public Sans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58.png" Type="http://schemas.openxmlformats.org/officeDocument/2006/relationships/image"/><Relationship Id="rId6" Target="../media/image5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72993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72930">
            <a:off x="1028224" y="6322501"/>
            <a:ext cx="7362709" cy="962972"/>
            <a:chOff x="0" y="0"/>
            <a:chExt cx="1939150" cy="253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39150" cy="253622"/>
            </a:xfrm>
            <a:custGeom>
              <a:avLst/>
              <a:gdLst/>
              <a:ahLst/>
              <a:cxnLst/>
              <a:rect r="r" b="b" t="t" l="l"/>
              <a:pathLst>
                <a:path h="253622" w="1939150">
                  <a:moveTo>
                    <a:pt x="105150" y="0"/>
                  </a:moveTo>
                  <a:lnTo>
                    <a:pt x="1833999" y="0"/>
                  </a:lnTo>
                  <a:cubicBezTo>
                    <a:pt x="1892072" y="0"/>
                    <a:pt x="1939150" y="47077"/>
                    <a:pt x="1939150" y="105150"/>
                  </a:cubicBezTo>
                  <a:lnTo>
                    <a:pt x="1939150" y="148472"/>
                  </a:lnTo>
                  <a:cubicBezTo>
                    <a:pt x="1939150" y="206545"/>
                    <a:pt x="1892072" y="253622"/>
                    <a:pt x="1833999" y="253622"/>
                  </a:cubicBezTo>
                  <a:lnTo>
                    <a:pt x="105150" y="253622"/>
                  </a:lnTo>
                  <a:cubicBezTo>
                    <a:pt x="47077" y="253622"/>
                    <a:pt x="0" y="206545"/>
                    <a:pt x="0" y="148472"/>
                  </a:cubicBezTo>
                  <a:lnTo>
                    <a:pt x="0" y="105150"/>
                  </a:lnTo>
                  <a:cubicBezTo>
                    <a:pt x="0" y="47077"/>
                    <a:pt x="47077" y="0"/>
                    <a:pt x="105150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939150" cy="244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086267"/>
            <a:ext cx="15564111" cy="428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sz="6600" spc="-191" b="true">
                <a:solidFill>
                  <a:srgbClr val="FFFCF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METODE HIBRIDA EFFICIENTNET-B0 DAN PROTOTYPICAL NETWORK UNTUK KLASIFIKASI MULTIKELAS PENYAKIT DIABETIC RETINOPATHY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700" y="7914005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4400157">
            <a:off x="7843314" y="6891713"/>
            <a:ext cx="731077" cy="73107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CF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4400157">
            <a:off x="8046866" y="7095265"/>
            <a:ext cx="323973" cy="323973"/>
          </a:xfrm>
          <a:custGeom>
            <a:avLst/>
            <a:gdLst/>
            <a:ahLst/>
            <a:cxnLst/>
            <a:rect r="r" b="b" t="t" l="l"/>
            <a:pathLst>
              <a:path h="323973" w="323973">
                <a:moveTo>
                  <a:pt x="0" y="0"/>
                </a:moveTo>
                <a:lnTo>
                  <a:pt x="323972" y="0"/>
                </a:lnTo>
                <a:lnTo>
                  <a:pt x="323972" y="323972"/>
                </a:lnTo>
                <a:lnTo>
                  <a:pt x="0" y="323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-172930">
            <a:off x="1286261" y="6611253"/>
            <a:ext cx="6916884" cy="40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</a:pPr>
            <a:r>
              <a:rPr lang="en-US" b="true" sz="2795" spc="-142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Dipresentasikan oleh Abi Eka Putra Wulyono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85850"/>
            <a:ext cx="6050019" cy="77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6"/>
              </a:lnSpc>
            </a:pPr>
            <a:r>
              <a:rPr lang="en-US" b="true" sz="5501" spc="-429">
                <a:solidFill>
                  <a:srgbClr val="FFB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Seminar Proposal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941875"/>
            <a:ext cx="4313806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95" spc="-19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Dr. Faisal Muttaqin, S.Kom, M.T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37386"/>
            <a:ext cx="3680878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95" spc="-194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Dosen Pembimbing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88639" y="8941875"/>
            <a:ext cx="1799704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sz="2495" spc="-19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22081010190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88639" y="8615926"/>
            <a:ext cx="1895776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b="true" sz="2495" spc="-194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NPM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41765" y="8941875"/>
            <a:ext cx="2612515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sz="2495" spc="-19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Informatika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46785" y="8615926"/>
            <a:ext cx="2612515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b="true" sz="2495" spc="-194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Program Studi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42506" y="8941875"/>
            <a:ext cx="4666123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95" spc="-19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Budi Mukhamad Mulyo, S.Kom., MT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42506" y="8537386"/>
            <a:ext cx="3468250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95" spc="-194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Dosen Pembimbing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90749" y="0"/>
            <a:ext cx="9105990" cy="10634733"/>
          </a:xfrm>
          <a:custGeom>
            <a:avLst/>
            <a:gdLst/>
            <a:ahLst/>
            <a:cxnLst/>
            <a:rect r="r" b="b" t="t" l="l"/>
            <a:pathLst>
              <a:path h="10634733" w="9105990">
                <a:moveTo>
                  <a:pt x="0" y="0"/>
                </a:moveTo>
                <a:lnTo>
                  <a:pt x="9105990" y="0"/>
                </a:lnTo>
                <a:lnTo>
                  <a:pt x="9105990" y="10634733"/>
                </a:lnTo>
                <a:lnTo>
                  <a:pt x="0" y="10634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41146">
            <a:off x="6782882" y="1124126"/>
            <a:ext cx="625405" cy="625405"/>
          </a:xfrm>
          <a:custGeom>
            <a:avLst/>
            <a:gdLst/>
            <a:ahLst/>
            <a:cxnLst/>
            <a:rect r="r" b="b" t="t" l="l"/>
            <a:pathLst>
              <a:path h="625405" w="625405">
                <a:moveTo>
                  <a:pt x="0" y="0"/>
                </a:moveTo>
                <a:lnTo>
                  <a:pt x="625405" y="0"/>
                </a:lnTo>
                <a:lnTo>
                  <a:pt x="625405" y="625405"/>
                </a:lnTo>
                <a:lnTo>
                  <a:pt x="0" y="625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28918">
            <a:off x="11266210" y="1585024"/>
            <a:ext cx="1072867" cy="448653"/>
          </a:xfrm>
          <a:custGeom>
            <a:avLst/>
            <a:gdLst/>
            <a:ahLst/>
            <a:cxnLst/>
            <a:rect r="r" b="b" t="t" l="l"/>
            <a:pathLst>
              <a:path h="448653" w="1072867">
                <a:moveTo>
                  <a:pt x="0" y="0"/>
                </a:moveTo>
                <a:lnTo>
                  <a:pt x="1072867" y="0"/>
                </a:lnTo>
                <a:lnTo>
                  <a:pt x="1072867" y="448653"/>
                </a:lnTo>
                <a:lnTo>
                  <a:pt x="0" y="448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890749" y="2821885"/>
            <a:ext cx="6191250" cy="6191250"/>
            <a:chOff x="0" y="0"/>
            <a:chExt cx="805916" cy="8059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5916" cy="805916"/>
            </a:xfrm>
            <a:custGeom>
              <a:avLst/>
              <a:gdLst/>
              <a:ahLst/>
              <a:cxnLst/>
              <a:rect r="r" b="b" t="t" l="l"/>
              <a:pathLst>
                <a:path h="805916" w="805916">
                  <a:moveTo>
                    <a:pt x="402958" y="0"/>
                  </a:moveTo>
                  <a:cubicBezTo>
                    <a:pt x="180410" y="0"/>
                    <a:pt x="0" y="180410"/>
                    <a:pt x="0" y="402958"/>
                  </a:cubicBezTo>
                  <a:cubicBezTo>
                    <a:pt x="0" y="625505"/>
                    <a:pt x="180410" y="805916"/>
                    <a:pt x="402958" y="805916"/>
                  </a:cubicBezTo>
                  <a:cubicBezTo>
                    <a:pt x="625505" y="805916"/>
                    <a:pt x="805916" y="625505"/>
                    <a:pt x="805916" y="402958"/>
                  </a:cubicBezTo>
                  <a:cubicBezTo>
                    <a:pt x="805916" y="180410"/>
                    <a:pt x="625505" y="0"/>
                    <a:pt x="402958" y="0"/>
                  </a:cubicBezTo>
                  <a:close/>
                </a:path>
              </a:pathLst>
            </a:custGeom>
            <a:blipFill>
              <a:blip r:embed="rId8"/>
              <a:stretch>
                <a:fillRect l="-54351" t="-9514" r="-971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76378" y="694016"/>
            <a:ext cx="6750817" cy="263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9999" spc="-639" b="true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Latar Belakang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6378" y="3275290"/>
            <a:ext cx="11804993" cy="522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b="true" sz="2701" i="true" spc="-175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Diabetic Retinopathy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(DR)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merupakan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komplikasi serius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dari diabetes yang dapat menyebabkan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kebutaan permanen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jika tidak terdeteksi sejak dini (Chong et al., 2024). Permasalahan utamanya adalah penyakit ini sering berkembang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tanpa gejala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pada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tahap awal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, sementara pemeriksaannya masih bergantung pada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evaluasi manual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oleh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dokter spesialis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yang membutuhkan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ketelitian tinggi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dan hasilnya dapat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bervariasi antar pemeriksa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(Srinivasan et al., 2023). Selain itu, data citra retina memiliki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distribusi yang tidak seimbang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antar tingkat keparahan (Ahmed, 2025), sehingga menyulitkan metode konvensional dalam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mengenali kelas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yang lebih jarang namun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berisiko tinggi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(Hellín et al., 2024). Kondisi ini menunjukkan urgensi akan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pendekatan otomatis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yang mampu melakukan </a:t>
            </a:r>
            <a:r>
              <a:rPr lang="en-US" sz="2701" spc="-17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klasifikasi </a:t>
            </a:r>
            <a:r>
              <a:rPr lang="en-US" b="true" sz="2701" i="true" spc="-175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Diabetic Retinopathy </a:t>
            </a:r>
            <a:r>
              <a:rPr lang="en-US" sz="2701" spc="-17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secara lebih konsisten, objektif, dan efektif.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00050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8767" y="4614880"/>
            <a:ext cx="1221065" cy="1057239"/>
          </a:xfrm>
          <a:custGeom>
            <a:avLst/>
            <a:gdLst/>
            <a:ahLst/>
            <a:cxnLst/>
            <a:rect r="r" b="b" t="t" l="l"/>
            <a:pathLst>
              <a:path h="1057239" w="1221065">
                <a:moveTo>
                  <a:pt x="0" y="0"/>
                </a:moveTo>
                <a:lnTo>
                  <a:pt x="1221066" y="0"/>
                </a:lnTo>
                <a:lnTo>
                  <a:pt x="1221066" y="1057240"/>
                </a:lnTo>
                <a:lnTo>
                  <a:pt x="0" y="1057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07061" y="6543675"/>
            <a:ext cx="776694" cy="949601"/>
          </a:xfrm>
          <a:custGeom>
            <a:avLst/>
            <a:gdLst/>
            <a:ahLst/>
            <a:cxnLst/>
            <a:rect r="r" b="b" t="t" l="l"/>
            <a:pathLst>
              <a:path h="949601" w="776694">
                <a:moveTo>
                  <a:pt x="0" y="0"/>
                </a:moveTo>
                <a:lnTo>
                  <a:pt x="776694" y="0"/>
                </a:lnTo>
                <a:lnTo>
                  <a:pt x="776694" y="949601"/>
                </a:lnTo>
                <a:lnTo>
                  <a:pt x="0" y="949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27826">
            <a:off x="491838" y="4671062"/>
            <a:ext cx="1073724" cy="944877"/>
          </a:xfrm>
          <a:custGeom>
            <a:avLst/>
            <a:gdLst/>
            <a:ahLst/>
            <a:cxnLst/>
            <a:rect r="r" b="b" t="t" l="l"/>
            <a:pathLst>
              <a:path h="944877" w="1073724">
                <a:moveTo>
                  <a:pt x="0" y="0"/>
                </a:moveTo>
                <a:lnTo>
                  <a:pt x="1073724" y="0"/>
                </a:lnTo>
                <a:lnTo>
                  <a:pt x="1073724" y="944876"/>
                </a:lnTo>
                <a:lnTo>
                  <a:pt x="0" y="944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34436" y="3905250"/>
            <a:ext cx="14819128" cy="263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9"/>
              </a:lnSpc>
            </a:pPr>
            <a:r>
              <a:rPr lang="en-US" b="true" sz="9999" spc="-639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Lalu… </a:t>
            </a:r>
          </a:p>
          <a:p>
            <a:pPr algn="ctr">
              <a:lnSpc>
                <a:spcPts val="10199"/>
              </a:lnSpc>
            </a:pPr>
            <a:r>
              <a:rPr lang="en-US" b="true" sz="9999" spc="-639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Apa yang perlu dilakukan?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72993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1945" y="3901242"/>
            <a:ext cx="15564111" cy="258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2"/>
              </a:lnSpc>
            </a:pPr>
            <a:r>
              <a:rPr lang="en-US" b="true" sz="6600" spc="-191">
                <a:solidFill>
                  <a:srgbClr val="FFFCF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Pendekatan deep learning dapat membantu mengenali pola DR secara otomatis dari citra retina.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700000">
            <a:off x="16212328" y="3097847"/>
            <a:ext cx="1427456" cy="796401"/>
          </a:xfrm>
          <a:custGeom>
            <a:avLst/>
            <a:gdLst/>
            <a:ahLst/>
            <a:cxnLst/>
            <a:rect r="r" b="b" t="t" l="l"/>
            <a:pathLst>
              <a:path h="796401" w="1427456">
                <a:moveTo>
                  <a:pt x="0" y="0"/>
                </a:moveTo>
                <a:lnTo>
                  <a:pt x="1427455" y="0"/>
                </a:lnTo>
                <a:lnTo>
                  <a:pt x="1427455" y="796402"/>
                </a:lnTo>
                <a:lnTo>
                  <a:pt x="0" y="796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6650" y="4797303"/>
            <a:ext cx="2558150" cy="1693230"/>
          </a:xfrm>
          <a:custGeom>
            <a:avLst/>
            <a:gdLst/>
            <a:ahLst/>
            <a:cxnLst/>
            <a:rect r="r" b="b" t="t" l="l"/>
            <a:pathLst>
              <a:path h="1693230" w="2558150">
                <a:moveTo>
                  <a:pt x="0" y="0"/>
                </a:moveTo>
                <a:lnTo>
                  <a:pt x="2558150" y="0"/>
                </a:lnTo>
                <a:lnTo>
                  <a:pt x="2558150" y="1693230"/>
                </a:lnTo>
                <a:lnTo>
                  <a:pt x="0" y="1693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00050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8767" y="4614880"/>
            <a:ext cx="1221065" cy="1057239"/>
          </a:xfrm>
          <a:custGeom>
            <a:avLst/>
            <a:gdLst/>
            <a:ahLst/>
            <a:cxnLst/>
            <a:rect r="r" b="b" t="t" l="l"/>
            <a:pathLst>
              <a:path h="1057239" w="1221065">
                <a:moveTo>
                  <a:pt x="0" y="0"/>
                </a:moveTo>
                <a:lnTo>
                  <a:pt x="1221066" y="0"/>
                </a:lnTo>
                <a:lnTo>
                  <a:pt x="1221066" y="1057240"/>
                </a:lnTo>
                <a:lnTo>
                  <a:pt x="0" y="1057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24661" y="6580830"/>
            <a:ext cx="776694" cy="949601"/>
          </a:xfrm>
          <a:custGeom>
            <a:avLst/>
            <a:gdLst/>
            <a:ahLst/>
            <a:cxnLst/>
            <a:rect r="r" b="b" t="t" l="l"/>
            <a:pathLst>
              <a:path h="949601" w="776694">
                <a:moveTo>
                  <a:pt x="0" y="0"/>
                </a:moveTo>
                <a:lnTo>
                  <a:pt x="776694" y="0"/>
                </a:lnTo>
                <a:lnTo>
                  <a:pt x="776694" y="949601"/>
                </a:lnTo>
                <a:lnTo>
                  <a:pt x="0" y="949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227826">
            <a:off x="491838" y="4671062"/>
            <a:ext cx="1073724" cy="944877"/>
          </a:xfrm>
          <a:custGeom>
            <a:avLst/>
            <a:gdLst/>
            <a:ahLst/>
            <a:cxnLst/>
            <a:rect r="r" b="b" t="t" l="l"/>
            <a:pathLst>
              <a:path h="944877" w="1073724">
                <a:moveTo>
                  <a:pt x="0" y="0"/>
                </a:moveTo>
                <a:lnTo>
                  <a:pt x="1073724" y="0"/>
                </a:lnTo>
                <a:lnTo>
                  <a:pt x="1073724" y="944876"/>
                </a:lnTo>
                <a:lnTo>
                  <a:pt x="0" y="9448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34436" y="3810945"/>
            <a:ext cx="14819128" cy="276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b="true" sz="7000" spc="-448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Metode </a:t>
            </a:r>
            <a:r>
              <a:rPr lang="en-US" sz="7000" spc="-448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seperti apa yang mampu bekerja dengan baik pada data retina yang </a:t>
            </a:r>
            <a:r>
              <a:rPr lang="en-US" b="true" sz="7000" spc="-448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kompleks </a:t>
            </a:r>
            <a:r>
              <a:rPr lang="en-US" sz="7000" spc="-448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dan </a:t>
            </a:r>
            <a:r>
              <a:rPr lang="en-US" b="true" sz="7000" spc="-448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tidak seimbang</a:t>
            </a:r>
            <a:r>
              <a:rPr lang="en-US" sz="7000" spc="-448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61196" y="192834"/>
            <a:ext cx="1017047" cy="967042"/>
          </a:xfrm>
          <a:custGeom>
            <a:avLst/>
            <a:gdLst/>
            <a:ahLst/>
            <a:cxnLst/>
            <a:rect r="r" b="b" t="t" l="l"/>
            <a:pathLst>
              <a:path h="967042" w="1017047">
                <a:moveTo>
                  <a:pt x="0" y="0"/>
                </a:moveTo>
                <a:lnTo>
                  <a:pt x="1017047" y="0"/>
                </a:lnTo>
                <a:lnTo>
                  <a:pt x="1017047" y="967042"/>
                </a:lnTo>
                <a:lnTo>
                  <a:pt x="0" y="967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28381"/>
            <a:ext cx="9341019" cy="12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0"/>
              </a:lnSpc>
            </a:pPr>
            <a:r>
              <a:rPr lang="en-US" sz="9000" spc="-576" b="true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EfficientNet-B0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819412"/>
            <a:ext cx="16230600" cy="3324088"/>
            <a:chOff x="0" y="0"/>
            <a:chExt cx="3957036" cy="810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57036" cy="810416"/>
            </a:xfrm>
            <a:custGeom>
              <a:avLst/>
              <a:gdLst/>
              <a:ahLst/>
              <a:cxnLst/>
              <a:rect r="r" b="b" t="t" l="l"/>
              <a:pathLst>
                <a:path h="810416" w="3957036">
                  <a:moveTo>
                    <a:pt x="47700" y="0"/>
                  </a:moveTo>
                  <a:lnTo>
                    <a:pt x="3909336" y="0"/>
                  </a:lnTo>
                  <a:cubicBezTo>
                    <a:pt x="3921987" y="0"/>
                    <a:pt x="3934119" y="5025"/>
                    <a:pt x="3943065" y="13971"/>
                  </a:cubicBezTo>
                  <a:cubicBezTo>
                    <a:pt x="3952010" y="22916"/>
                    <a:pt x="3957036" y="35049"/>
                    <a:pt x="3957036" y="47700"/>
                  </a:cubicBezTo>
                  <a:lnTo>
                    <a:pt x="3957036" y="762716"/>
                  </a:lnTo>
                  <a:cubicBezTo>
                    <a:pt x="3957036" y="775367"/>
                    <a:pt x="3952010" y="787499"/>
                    <a:pt x="3943065" y="796445"/>
                  </a:cubicBezTo>
                  <a:cubicBezTo>
                    <a:pt x="3934119" y="805390"/>
                    <a:pt x="3921987" y="810416"/>
                    <a:pt x="3909336" y="810416"/>
                  </a:cubicBezTo>
                  <a:lnTo>
                    <a:pt x="47700" y="810416"/>
                  </a:lnTo>
                  <a:cubicBezTo>
                    <a:pt x="35049" y="810416"/>
                    <a:pt x="22916" y="805390"/>
                    <a:pt x="13971" y="796445"/>
                  </a:cubicBezTo>
                  <a:cubicBezTo>
                    <a:pt x="5025" y="787499"/>
                    <a:pt x="0" y="775367"/>
                    <a:pt x="0" y="762716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17383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3957036" cy="80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21458" y="2642438"/>
            <a:ext cx="14245083" cy="213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1"/>
              </a:lnSpc>
            </a:pP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“</a:t>
            </a:r>
            <a:r>
              <a:rPr lang="en-US" b="true" sz="3001" i="true" spc="-195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EfficientNet-B0 </a:t>
            </a: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merupakan arsitektur </a:t>
            </a:r>
            <a:r>
              <a:rPr lang="en-US" b="true" sz="3001" i="true" spc="-195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convolutional neural network </a:t>
            </a: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yang dikembangkan menggunakan pendekatan </a:t>
            </a:r>
            <a:r>
              <a:rPr lang="en-US" b="true" sz="3001" i="true" spc="-195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compound scaling </a:t>
            </a: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dengan memanfaatkan </a:t>
            </a:r>
            <a:r>
              <a:rPr lang="en-US" b="true" sz="3001" i="true" spc="-195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MBConv </a:t>
            </a: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dan </a:t>
            </a:r>
            <a:r>
              <a:rPr lang="en-US" b="true" sz="3001" i="true" spc="-195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Squeeze-and-Excitation </a:t>
            </a: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sehingga mampu mengekstraksi fitur citra secara efisien dengan jumlah parameter yang relatif kecil.”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21458" y="2051855"/>
            <a:ext cx="4929156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spc="-255" b="true">
                <a:solidFill>
                  <a:srgbClr val="FFB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Tan &amp; Le, 2019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1998" y="5295900"/>
            <a:ext cx="5084003" cy="4678677"/>
            <a:chOff x="0" y="0"/>
            <a:chExt cx="1338997" cy="12322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8997" cy="1232244"/>
            </a:xfrm>
            <a:custGeom>
              <a:avLst/>
              <a:gdLst/>
              <a:ahLst/>
              <a:cxnLst/>
              <a:rect r="r" b="b" t="t" l="l"/>
              <a:pathLst>
                <a:path h="1232244" w="1338997">
                  <a:moveTo>
                    <a:pt x="152280" y="0"/>
                  </a:moveTo>
                  <a:lnTo>
                    <a:pt x="1186717" y="0"/>
                  </a:lnTo>
                  <a:cubicBezTo>
                    <a:pt x="1270819" y="0"/>
                    <a:pt x="1338997" y="68178"/>
                    <a:pt x="1338997" y="152280"/>
                  </a:cubicBezTo>
                  <a:lnTo>
                    <a:pt x="1338997" y="1079964"/>
                  </a:lnTo>
                  <a:cubicBezTo>
                    <a:pt x="1338997" y="1120351"/>
                    <a:pt x="1322953" y="1159084"/>
                    <a:pt x="1294395" y="1187642"/>
                  </a:cubicBezTo>
                  <a:cubicBezTo>
                    <a:pt x="1265837" y="1216200"/>
                    <a:pt x="1227104" y="1232244"/>
                    <a:pt x="1186717" y="1232244"/>
                  </a:cubicBezTo>
                  <a:lnTo>
                    <a:pt x="152280" y="1232244"/>
                  </a:lnTo>
                  <a:cubicBezTo>
                    <a:pt x="68178" y="1232244"/>
                    <a:pt x="0" y="1164066"/>
                    <a:pt x="0" y="1079964"/>
                  </a:cubicBezTo>
                  <a:lnTo>
                    <a:pt x="0" y="152280"/>
                  </a:lnTo>
                  <a:cubicBezTo>
                    <a:pt x="0" y="68178"/>
                    <a:pt x="68178" y="0"/>
                    <a:pt x="152280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338997" cy="1222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5295900"/>
            <a:ext cx="5084003" cy="4678677"/>
            <a:chOff x="0" y="0"/>
            <a:chExt cx="1338997" cy="12322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8997" cy="1232244"/>
            </a:xfrm>
            <a:custGeom>
              <a:avLst/>
              <a:gdLst/>
              <a:ahLst/>
              <a:cxnLst/>
              <a:rect r="r" b="b" t="t" l="l"/>
              <a:pathLst>
                <a:path h="1232244" w="1338997">
                  <a:moveTo>
                    <a:pt x="152280" y="0"/>
                  </a:moveTo>
                  <a:lnTo>
                    <a:pt x="1186717" y="0"/>
                  </a:lnTo>
                  <a:cubicBezTo>
                    <a:pt x="1270819" y="0"/>
                    <a:pt x="1338997" y="68178"/>
                    <a:pt x="1338997" y="152280"/>
                  </a:cubicBezTo>
                  <a:lnTo>
                    <a:pt x="1338997" y="1079964"/>
                  </a:lnTo>
                  <a:cubicBezTo>
                    <a:pt x="1338997" y="1120351"/>
                    <a:pt x="1322953" y="1159084"/>
                    <a:pt x="1294395" y="1187642"/>
                  </a:cubicBezTo>
                  <a:cubicBezTo>
                    <a:pt x="1265837" y="1216200"/>
                    <a:pt x="1227104" y="1232244"/>
                    <a:pt x="1186717" y="1232244"/>
                  </a:cubicBezTo>
                  <a:lnTo>
                    <a:pt x="152280" y="1232244"/>
                  </a:lnTo>
                  <a:cubicBezTo>
                    <a:pt x="68178" y="1232244"/>
                    <a:pt x="0" y="1164066"/>
                    <a:pt x="0" y="1079964"/>
                  </a:cubicBezTo>
                  <a:lnTo>
                    <a:pt x="0" y="152280"/>
                  </a:lnTo>
                  <a:cubicBezTo>
                    <a:pt x="0" y="68178"/>
                    <a:pt x="68178" y="0"/>
                    <a:pt x="152280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338997" cy="1222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1777" y="5295900"/>
            <a:ext cx="5084003" cy="4678677"/>
            <a:chOff x="0" y="0"/>
            <a:chExt cx="1338997" cy="12322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8997" cy="1232244"/>
            </a:xfrm>
            <a:custGeom>
              <a:avLst/>
              <a:gdLst/>
              <a:ahLst/>
              <a:cxnLst/>
              <a:rect r="r" b="b" t="t" l="l"/>
              <a:pathLst>
                <a:path h="1232244" w="1338997">
                  <a:moveTo>
                    <a:pt x="152280" y="0"/>
                  </a:moveTo>
                  <a:lnTo>
                    <a:pt x="1186717" y="0"/>
                  </a:lnTo>
                  <a:cubicBezTo>
                    <a:pt x="1270819" y="0"/>
                    <a:pt x="1338997" y="68178"/>
                    <a:pt x="1338997" y="152280"/>
                  </a:cubicBezTo>
                  <a:lnTo>
                    <a:pt x="1338997" y="1079964"/>
                  </a:lnTo>
                  <a:cubicBezTo>
                    <a:pt x="1338997" y="1120351"/>
                    <a:pt x="1322953" y="1159084"/>
                    <a:pt x="1294395" y="1187642"/>
                  </a:cubicBezTo>
                  <a:cubicBezTo>
                    <a:pt x="1265837" y="1216200"/>
                    <a:pt x="1227104" y="1232244"/>
                    <a:pt x="1186717" y="1232244"/>
                  </a:cubicBezTo>
                  <a:lnTo>
                    <a:pt x="152280" y="1232244"/>
                  </a:lnTo>
                  <a:cubicBezTo>
                    <a:pt x="68178" y="1232244"/>
                    <a:pt x="0" y="1164066"/>
                    <a:pt x="0" y="1079964"/>
                  </a:cubicBezTo>
                  <a:lnTo>
                    <a:pt x="0" y="152280"/>
                  </a:lnTo>
                  <a:cubicBezTo>
                    <a:pt x="0" y="68178"/>
                    <a:pt x="68178" y="0"/>
                    <a:pt x="152280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338997" cy="1222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91827" y="5962650"/>
            <a:ext cx="4557749" cy="334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Pendekatan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ensemble EfficientNet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untuk klasifikasi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Diabetic Retinopathy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mampu meningkatkan akurasi di atas 90% serta memperbaiki sensitivitas terhadap kelas minoritas, sehingga hasil prediksi menjadi lebih stabil antar kelas.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75393" y="5499735"/>
            <a:ext cx="3390618" cy="41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b="true" sz="3000" spc="-192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Arora dkk, 2024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446931" y="5499735"/>
            <a:ext cx="3390618" cy="41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b="true" sz="3000" spc="-192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Abbas dkk, 2023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63365" y="5962650"/>
            <a:ext cx="4557749" cy="2929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HDR-Effici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entNet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mencapai akurasi di atas 92% pada klasifikasi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Hypertensive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dan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Diabetic Retinopathy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, menunjukkan bahwa optimisasi arsitektur dapat meningkatkan performa pada data medis yang tidak seimbang.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34904" y="5962650"/>
            <a:ext cx="4557749" cy="334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EfficientNet-B0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dengan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transfer learning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dan augmentasi data pada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dataset Kaggle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yang terbatas dan tidak seimbang mampu mencapai akurasi rata-rata sekitar 85%, menunjukkan efektivitas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EfficientNet-B0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sebagai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backbone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ringan dengan performa kompetitif.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19502" y="5499735"/>
            <a:ext cx="3390618" cy="41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b="true" sz="3000" spc="-192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Ahmed, 2025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69663" y="6633975"/>
            <a:ext cx="11148674" cy="2119215"/>
            <a:chOff x="0" y="0"/>
            <a:chExt cx="2213350" cy="420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3350" cy="420728"/>
            </a:xfrm>
            <a:custGeom>
              <a:avLst/>
              <a:gdLst/>
              <a:ahLst/>
              <a:cxnLst/>
              <a:rect r="r" b="b" t="t" l="l"/>
              <a:pathLst>
                <a:path h="420728" w="2213350">
                  <a:moveTo>
                    <a:pt x="52082" y="0"/>
                  </a:moveTo>
                  <a:lnTo>
                    <a:pt x="2161268" y="0"/>
                  </a:lnTo>
                  <a:cubicBezTo>
                    <a:pt x="2175081" y="0"/>
                    <a:pt x="2188328" y="5487"/>
                    <a:pt x="2198095" y="15254"/>
                  </a:cubicBezTo>
                  <a:cubicBezTo>
                    <a:pt x="2207863" y="25022"/>
                    <a:pt x="2213350" y="38269"/>
                    <a:pt x="2213350" y="52082"/>
                  </a:cubicBezTo>
                  <a:lnTo>
                    <a:pt x="2213350" y="368647"/>
                  </a:lnTo>
                  <a:cubicBezTo>
                    <a:pt x="2213350" y="397411"/>
                    <a:pt x="2190032" y="420728"/>
                    <a:pt x="2161268" y="420728"/>
                  </a:cubicBezTo>
                  <a:lnTo>
                    <a:pt x="52082" y="420728"/>
                  </a:lnTo>
                  <a:cubicBezTo>
                    <a:pt x="38269" y="420728"/>
                    <a:pt x="25022" y="415241"/>
                    <a:pt x="15254" y="405474"/>
                  </a:cubicBezTo>
                  <a:cubicBezTo>
                    <a:pt x="5487" y="395707"/>
                    <a:pt x="0" y="382459"/>
                    <a:pt x="0" y="368647"/>
                  </a:cubicBezTo>
                  <a:lnTo>
                    <a:pt x="0" y="52082"/>
                  </a:lnTo>
                  <a:cubicBezTo>
                    <a:pt x="0" y="38269"/>
                    <a:pt x="5487" y="25022"/>
                    <a:pt x="15254" y="15254"/>
                  </a:cubicBezTo>
                  <a:cubicBezTo>
                    <a:pt x="25022" y="5487"/>
                    <a:pt x="38269" y="0"/>
                    <a:pt x="52082" y="0"/>
                  </a:cubicBezTo>
                  <a:close/>
                </a:path>
              </a:pathLst>
            </a:custGeom>
            <a:solidFill>
              <a:srgbClr val="173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213350" cy="411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61954" y="7017307"/>
            <a:ext cx="11964092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b="true" sz="5000" i="true" spc="-320">
                <a:solidFill>
                  <a:srgbClr val="FFB000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Prototypical Network </a:t>
            </a:r>
            <a:r>
              <a:rPr lang="en-US" b="true" sz="5000" spc="-320">
                <a:solidFill>
                  <a:srgbClr val="FFB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yang bekerja berdasarkan jarak antar representasi.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51433"/>
            <a:ext cx="16230600" cy="392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3"/>
              </a:lnSpc>
            </a:pPr>
            <a:r>
              <a:rPr lang="en-US" b="true" sz="5003" i="true" spc="-320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EfficientNet-B0 </a:t>
            </a:r>
            <a:r>
              <a:rPr lang="en-US" b="true" sz="5003" spc="-320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dinilai sesuai untuk klasifikasi karena mampu mengekstraksi fitur penting pada citra retina secara efisien. Namun, data </a:t>
            </a:r>
            <a:r>
              <a:rPr lang="en-US" b="true" sz="5003" i="true" spc="-320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Diabetic Retinopathy </a:t>
            </a:r>
            <a:r>
              <a:rPr lang="en-US" b="true" sz="5003" spc="-320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sering tidak seimbang sehingga beberapa kelas sulit dikenali. Kondisi ini memerlukan metode yang lebih stabil dalam menangani kelas minor, salah satunya dengan menggunakan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514350" y="9772650"/>
            <a:ext cx="1028700" cy="1028700"/>
            <a:chOff x="0" y="0"/>
            <a:chExt cx="250798" cy="2507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798" cy="250798"/>
            </a:xfrm>
            <a:custGeom>
              <a:avLst/>
              <a:gdLst/>
              <a:ahLst/>
              <a:cxnLst/>
              <a:rect r="r" b="b" t="t" l="l"/>
              <a:pathLst>
                <a:path h="250798" w="250798">
                  <a:moveTo>
                    <a:pt x="0" y="0"/>
                  </a:moveTo>
                  <a:lnTo>
                    <a:pt x="250798" y="0"/>
                  </a:lnTo>
                  <a:lnTo>
                    <a:pt x="250798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50798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7457818"/>
            <a:ext cx="2207118" cy="1460883"/>
          </a:xfrm>
          <a:custGeom>
            <a:avLst/>
            <a:gdLst/>
            <a:ahLst/>
            <a:cxnLst/>
            <a:rect r="r" b="b" t="t" l="l"/>
            <a:pathLst>
              <a:path h="1460883" w="2207118">
                <a:moveTo>
                  <a:pt x="0" y="0"/>
                </a:moveTo>
                <a:lnTo>
                  <a:pt x="2207118" y="0"/>
                </a:lnTo>
                <a:lnTo>
                  <a:pt x="2207118" y="1460883"/>
                </a:lnTo>
                <a:lnTo>
                  <a:pt x="0" y="1460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773650" y="-514350"/>
            <a:ext cx="1028700" cy="1028700"/>
            <a:chOff x="0" y="0"/>
            <a:chExt cx="250798" cy="2507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0798" cy="250798"/>
            </a:xfrm>
            <a:custGeom>
              <a:avLst/>
              <a:gdLst/>
              <a:ahLst/>
              <a:cxnLst/>
              <a:rect r="r" b="b" t="t" l="l"/>
              <a:pathLst>
                <a:path h="250798" w="250798">
                  <a:moveTo>
                    <a:pt x="0" y="0"/>
                  </a:moveTo>
                  <a:lnTo>
                    <a:pt x="250798" y="0"/>
                  </a:lnTo>
                  <a:lnTo>
                    <a:pt x="250798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250798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2186291">
            <a:off x="14174245" y="6255794"/>
            <a:ext cx="954835" cy="523966"/>
          </a:xfrm>
          <a:custGeom>
            <a:avLst/>
            <a:gdLst/>
            <a:ahLst/>
            <a:cxnLst/>
            <a:rect r="r" b="b" t="t" l="l"/>
            <a:pathLst>
              <a:path h="523966" w="954835">
                <a:moveTo>
                  <a:pt x="0" y="0"/>
                </a:moveTo>
                <a:lnTo>
                  <a:pt x="954835" y="0"/>
                </a:lnTo>
                <a:lnTo>
                  <a:pt x="954835" y="523965"/>
                </a:lnTo>
                <a:lnTo>
                  <a:pt x="0" y="523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59691" y="8716099"/>
            <a:ext cx="1017047" cy="967042"/>
          </a:xfrm>
          <a:custGeom>
            <a:avLst/>
            <a:gdLst/>
            <a:ahLst/>
            <a:cxnLst/>
            <a:rect r="r" b="b" t="t" l="l"/>
            <a:pathLst>
              <a:path h="967042" w="1017047">
                <a:moveTo>
                  <a:pt x="0" y="0"/>
                </a:moveTo>
                <a:lnTo>
                  <a:pt x="1017047" y="0"/>
                </a:lnTo>
                <a:lnTo>
                  <a:pt x="1017047" y="967042"/>
                </a:lnTo>
                <a:lnTo>
                  <a:pt x="0" y="967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4300" y="8878024"/>
            <a:ext cx="13435518" cy="129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1"/>
              </a:lnSpc>
            </a:pPr>
            <a:r>
              <a:rPr lang="en-US" sz="9599" spc="-614" b="true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Prototypical Network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84734"/>
            <a:ext cx="16230600" cy="3324088"/>
            <a:chOff x="0" y="0"/>
            <a:chExt cx="3957036" cy="810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57036" cy="810416"/>
            </a:xfrm>
            <a:custGeom>
              <a:avLst/>
              <a:gdLst/>
              <a:ahLst/>
              <a:cxnLst/>
              <a:rect r="r" b="b" t="t" l="l"/>
              <a:pathLst>
                <a:path h="810416" w="3957036">
                  <a:moveTo>
                    <a:pt x="47700" y="0"/>
                  </a:moveTo>
                  <a:lnTo>
                    <a:pt x="3909336" y="0"/>
                  </a:lnTo>
                  <a:cubicBezTo>
                    <a:pt x="3921987" y="0"/>
                    <a:pt x="3934119" y="5025"/>
                    <a:pt x="3943065" y="13971"/>
                  </a:cubicBezTo>
                  <a:cubicBezTo>
                    <a:pt x="3952010" y="22916"/>
                    <a:pt x="3957036" y="35049"/>
                    <a:pt x="3957036" y="47700"/>
                  </a:cubicBezTo>
                  <a:lnTo>
                    <a:pt x="3957036" y="762716"/>
                  </a:lnTo>
                  <a:cubicBezTo>
                    <a:pt x="3957036" y="775367"/>
                    <a:pt x="3952010" y="787499"/>
                    <a:pt x="3943065" y="796445"/>
                  </a:cubicBezTo>
                  <a:cubicBezTo>
                    <a:pt x="3934119" y="805390"/>
                    <a:pt x="3921987" y="810416"/>
                    <a:pt x="3909336" y="810416"/>
                  </a:cubicBezTo>
                  <a:lnTo>
                    <a:pt x="47700" y="810416"/>
                  </a:lnTo>
                  <a:cubicBezTo>
                    <a:pt x="35049" y="810416"/>
                    <a:pt x="22916" y="805390"/>
                    <a:pt x="13971" y="796445"/>
                  </a:cubicBezTo>
                  <a:cubicBezTo>
                    <a:pt x="5025" y="787499"/>
                    <a:pt x="0" y="775367"/>
                    <a:pt x="0" y="762716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17383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3957036" cy="800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21458" y="1307760"/>
            <a:ext cx="14245083" cy="2133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1"/>
              </a:lnSpc>
            </a:pP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“</a:t>
            </a:r>
            <a:r>
              <a:rPr lang="en-US" b="true" sz="3001" i="true" spc="-195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Prototypical Network </a:t>
            </a: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bekerja dengan membangun representasi pusat (</a:t>
            </a:r>
            <a:r>
              <a:rPr lang="en-US" b="true" sz="3001" i="true" spc="-195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prototype</a:t>
            </a: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) untuk setiap kelas, kemudian mengklasifikasikan sampel baru berdasarkan jarak paling dekat dengan </a:t>
            </a:r>
            <a:r>
              <a:rPr lang="en-US" b="true" sz="3001" i="true" spc="-195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prototype </a:t>
            </a:r>
            <a:r>
              <a:rPr lang="en-US" b="true" sz="3001" spc="-195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tersebut. Pendekatan ini membuat proses klasifikasi lebih stabil pada kondisi data yang tidak seimbang atau memiliki jumlah sampel yang terbatas.”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21458" y="717177"/>
            <a:ext cx="4929156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spc="-255" b="true">
                <a:solidFill>
                  <a:srgbClr val="FFB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Snell dkk, 2017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05519" y="3923122"/>
            <a:ext cx="5084003" cy="4678677"/>
            <a:chOff x="0" y="0"/>
            <a:chExt cx="1338997" cy="12322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8997" cy="1232244"/>
            </a:xfrm>
            <a:custGeom>
              <a:avLst/>
              <a:gdLst/>
              <a:ahLst/>
              <a:cxnLst/>
              <a:rect r="r" b="b" t="t" l="l"/>
              <a:pathLst>
                <a:path h="1232244" w="1338997">
                  <a:moveTo>
                    <a:pt x="152280" y="0"/>
                  </a:moveTo>
                  <a:lnTo>
                    <a:pt x="1186717" y="0"/>
                  </a:lnTo>
                  <a:cubicBezTo>
                    <a:pt x="1270819" y="0"/>
                    <a:pt x="1338997" y="68178"/>
                    <a:pt x="1338997" y="152280"/>
                  </a:cubicBezTo>
                  <a:lnTo>
                    <a:pt x="1338997" y="1079964"/>
                  </a:lnTo>
                  <a:cubicBezTo>
                    <a:pt x="1338997" y="1120351"/>
                    <a:pt x="1322953" y="1159084"/>
                    <a:pt x="1294395" y="1187642"/>
                  </a:cubicBezTo>
                  <a:cubicBezTo>
                    <a:pt x="1265837" y="1216200"/>
                    <a:pt x="1227104" y="1232244"/>
                    <a:pt x="1186717" y="1232244"/>
                  </a:cubicBezTo>
                  <a:lnTo>
                    <a:pt x="152280" y="1232244"/>
                  </a:lnTo>
                  <a:cubicBezTo>
                    <a:pt x="68178" y="1232244"/>
                    <a:pt x="0" y="1164066"/>
                    <a:pt x="0" y="1079964"/>
                  </a:cubicBezTo>
                  <a:lnTo>
                    <a:pt x="0" y="152280"/>
                  </a:lnTo>
                  <a:cubicBezTo>
                    <a:pt x="0" y="68178"/>
                    <a:pt x="68178" y="0"/>
                    <a:pt x="152280" y="0"/>
                  </a:cubicBezTo>
                  <a:close/>
                </a:path>
              </a:pathLst>
            </a:custGeom>
            <a:solidFill>
              <a:srgbClr val="D5D1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338997" cy="1222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32220" y="3923122"/>
            <a:ext cx="5084003" cy="4678677"/>
            <a:chOff x="0" y="0"/>
            <a:chExt cx="1338997" cy="12322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8997" cy="1232244"/>
            </a:xfrm>
            <a:custGeom>
              <a:avLst/>
              <a:gdLst/>
              <a:ahLst/>
              <a:cxnLst/>
              <a:rect r="r" b="b" t="t" l="l"/>
              <a:pathLst>
                <a:path h="1232244" w="1338997">
                  <a:moveTo>
                    <a:pt x="152280" y="0"/>
                  </a:moveTo>
                  <a:lnTo>
                    <a:pt x="1186717" y="0"/>
                  </a:lnTo>
                  <a:cubicBezTo>
                    <a:pt x="1270819" y="0"/>
                    <a:pt x="1338997" y="68178"/>
                    <a:pt x="1338997" y="152280"/>
                  </a:cubicBezTo>
                  <a:lnTo>
                    <a:pt x="1338997" y="1079964"/>
                  </a:lnTo>
                  <a:cubicBezTo>
                    <a:pt x="1338997" y="1120351"/>
                    <a:pt x="1322953" y="1159084"/>
                    <a:pt x="1294395" y="1187642"/>
                  </a:cubicBezTo>
                  <a:cubicBezTo>
                    <a:pt x="1265837" y="1216200"/>
                    <a:pt x="1227104" y="1232244"/>
                    <a:pt x="1186717" y="1232244"/>
                  </a:cubicBezTo>
                  <a:lnTo>
                    <a:pt x="152280" y="1232244"/>
                  </a:lnTo>
                  <a:cubicBezTo>
                    <a:pt x="68178" y="1232244"/>
                    <a:pt x="0" y="1164066"/>
                    <a:pt x="0" y="1079964"/>
                  </a:cubicBezTo>
                  <a:lnTo>
                    <a:pt x="0" y="152280"/>
                  </a:lnTo>
                  <a:cubicBezTo>
                    <a:pt x="0" y="68178"/>
                    <a:pt x="68178" y="0"/>
                    <a:pt x="152280" y="0"/>
                  </a:cubicBezTo>
                  <a:close/>
                </a:path>
              </a:pathLst>
            </a:custGeom>
            <a:solidFill>
              <a:srgbClr val="D5D1C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338997" cy="1222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5297" y="3923122"/>
            <a:ext cx="5084003" cy="4678677"/>
            <a:chOff x="0" y="0"/>
            <a:chExt cx="1338997" cy="12322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8997" cy="1232244"/>
            </a:xfrm>
            <a:custGeom>
              <a:avLst/>
              <a:gdLst/>
              <a:ahLst/>
              <a:cxnLst/>
              <a:rect r="r" b="b" t="t" l="l"/>
              <a:pathLst>
                <a:path h="1232244" w="1338997">
                  <a:moveTo>
                    <a:pt x="152280" y="0"/>
                  </a:moveTo>
                  <a:lnTo>
                    <a:pt x="1186717" y="0"/>
                  </a:lnTo>
                  <a:cubicBezTo>
                    <a:pt x="1270819" y="0"/>
                    <a:pt x="1338997" y="68178"/>
                    <a:pt x="1338997" y="152280"/>
                  </a:cubicBezTo>
                  <a:lnTo>
                    <a:pt x="1338997" y="1079964"/>
                  </a:lnTo>
                  <a:cubicBezTo>
                    <a:pt x="1338997" y="1120351"/>
                    <a:pt x="1322953" y="1159084"/>
                    <a:pt x="1294395" y="1187642"/>
                  </a:cubicBezTo>
                  <a:cubicBezTo>
                    <a:pt x="1265837" y="1216200"/>
                    <a:pt x="1227104" y="1232244"/>
                    <a:pt x="1186717" y="1232244"/>
                  </a:cubicBezTo>
                  <a:lnTo>
                    <a:pt x="152280" y="1232244"/>
                  </a:lnTo>
                  <a:cubicBezTo>
                    <a:pt x="68178" y="1232244"/>
                    <a:pt x="0" y="1164066"/>
                    <a:pt x="0" y="1079964"/>
                  </a:cubicBezTo>
                  <a:lnTo>
                    <a:pt x="0" y="152280"/>
                  </a:lnTo>
                  <a:cubicBezTo>
                    <a:pt x="0" y="68178"/>
                    <a:pt x="68178" y="0"/>
                    <a:pt x="152280" y="0"/>
                  </a:cubicBezTo>
                  <a:close/>
                </a:path>
              </a:pathLst>
            </a:custGeom>
            <a:solidFill>
              <a:srgbClr val="D5D1C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338997" cy="1222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95347" y="4589872"/>
            <a:ext cx="4557749" cy="334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DRN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et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berbasis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ProtoNet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mencapai akurasi 99,73% untuk deteksi DR dan 98,18% untuk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grading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 Model ini memanfaatkan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episodic learning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dan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attention mechanism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untuk memperkuat representasi fitur antar kelas, sehingga sangat efektif pada kondisi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few-shot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5567" y="4165057"/>
            <a:ext cx="4237310" cy="36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b="true" sz="2700" spc="-172">
                <a:solidFill>
                  <a:srgbClr val="EF683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Mu</a:t>
            </a:r>
            <a:r>
              <a:rPr lang="en-US" b="true" sz="2700" spc="-172">
                <a:solidFill>
                  <a:srgbClr val="EF683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rugappan dkk, 2022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69750" y="4165057"/>
            <a:ext cx="4555541" cy="36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b="true" sz="2700" spc="-172">
                <a:solidFill>
                  <a:srgbClr val="EF683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Ouaha</a:t>
            </a:r>
            <a:r>
              <a:rPr lang="en-US" b="true" sz="2700" spc="-172">
                <a:solidFill>
                  <a:srgbClr val="EF683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 &amp; Ben Ahmed, 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66886" y="4589872"/>
            <a:ext cx="4557749" cy="37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toMed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menambahkan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auxiliary regularization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untuk meningkatkan konsistensi representasi fitur pada 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dataset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kecil. Pendekatan ini terbukti memperbaiki generalisasi model dan meningkatkan akurasi dalam mengenali kelas baru dengan sampel yang sangat terbatas.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38424" y="4589872"/>
            <a:ext cx="4557749" cy="37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Dual-Chann</a:t>
            </a:r>
            <a:r>
              <a:rPr lang="en-US" b="true" sz="2401" i="true" spc="-156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el Prototype Network </a:t>
            </a:r>
            <a:r>
              <a:rPr lang="en-US" b="true" sz="2401" spc="-156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menggunakan dua jenis prototipe, yaitu prototipe visual dan semantik, yang bekerja secara paralel untuk meningkatkan ketelitian klasifikasi. Metode ini memberikan peningkatan akurasi dan efisiensi komputasi pada klasifikasi citra patologi.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23022" y="4165057"/>
            <a:ext cx="3390618" cy="366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b="true" sz="2700" spc="-172">
                <a:solidFill>
                  <a:srgbClr val="EF683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Quan </a:t>
            </a:r>
            <a:r>
              <a:rPr lang="en-US" b="true" sz="2700" spc="-172">
                <a:solidFill>
                  <a:srgbClr val="EF683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dkk, 2024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351591"/>
            <a:ext cx="7968674" cy="3944625"/>
            <a:chOff x="0" y="0"/>
            <a:chExt cx="1942770" cy="9617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2770" cy="961703"/>
            </a:xfrm>
            <a:custGeom>
              <a:avLst/>
              <a:gdLst/>
              <a:ahLst/>
              <a:cxnLst/>
              <a:rect r="r" b="b" t="t" l="l"/>
              <a:pathLst>
                <a:path h="961703" w="1942770">
                  <a:moveTo>
                    <a:pt x="34004" y="0"/>
                  </a:moveTo>
                  <a:lnTo>
                    <a:pt x="1908766" y="0"/>
                  </a:lnTo>
                  <a:cubicBezTo>
                    <a:pt x="1917784" y="0"/>
                    <a:pt x="1926434" y="3583"/>
                    <a:pt x="1932811" y="9960"/>
                  </a:cubicBezTo>
                  <a:cubicBezTo>
                    <a:pt x="1939188" y="16337"/>
                    <a:pt x="1942770" y="24986"/>
                    <a:pt x="1942770" y="34004"/>
                  </a:cubicBezTo>
                  <a:lnTo>
                    <a:pt x="1942770" y="927699"/>
                  </a:lnTo>
                  <a:cubicBezTo>
                    <a:pt x="1942770" y="936718"/>
                    <a:pt x="1939188" y="945367"/>
                    <a:pt x="1932811" y="951744"/>
                  </a:cubicBezTo>
                  <a:cubicBezTo>
                    <a:pt x="1926434" y="958121"/>
                    <a:pt x="1917784" y="961703"/>
                    <a:pt x="1908766" y="961703"/>
                  </a:cubicBezTo>
                  <a:lnTo>
                    <a:pt x="34004" y="961703"/>
                  </a:lnTo>
                  <a:cubicBezTo>
                    <a:pt x="24986" y="961703"/>
                    <a:pt x="16337" y="958121"/>
                    <a:pt x="9960" y="951744"/>
                  </a:cubicBezTo>
                  <a:cubicBezTo>
                    <a:pt x="3583" y="945367"/>
                    <a:pt x="0" y="936718"/>
                    <a:pt x="0" y="927699"/>
                  </a:cubicBezTo>
                  <a:lnTo>
                    <a:pt x="0" y="34004"/>
                  </a:lnTo>
                  <a:cubicBezTo>
                    <a:pt x="0" y="24986"/>
                    <a:pt x="3583" y="16337"/>
                    <a:pt x="9960" y="9960"/>
                  </a:cubicBezTo>
                  <a:cubicBezTo>
                    <a:pt x="16337" y="3583"/>
                    <a:pt x="24986" y="0"/>
                    <a:pt x="34004" y="0"/>
                  </a:cubicBezTo>
                  <a:close/>
                </a:path>
              </a:pathLst>
            </a:custGeom>
            <a:solidFill>
              <a:srgbClr val="173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942770" cy="952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28529" y="3870105"/>
            <a:ext cx="4369015" cy="962972"/>
            <a:chOff x="0" y="0"/>
            <a:chExt cx="1150687" cy="2536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0687" cy="253622"/>
            </a:xfrm>
            <a:custGeom>
              <a:avLst/>
              <a:gdLst/>
              <a:ahLst/>
              <a:cxnLst/>
              <a:rect r="r" b="b" t="t" l="l"/>
              <a:pathLst>
                <a:path h="253622" w="1150687">
                  <a:moveTo>
                    <a:pt x="126811" y="0"/>
                  </a:moveTo>
                  <a:lnTo>
                    <a:pt x="1023876" y="0"/>
                  </a:lnTo>
                  <a:cubicBezTo>
                    <a:pt x="1093912" y="0"/>
                    <a:pt x="1150687" y="56775"/>
                    <a:pt x="1150687" y="126811"/>
                  </a:cubicBezTo>
                  <a:lnTo>
                    <a:pt x="1150687" y="126811"/>
                  </a:lnTo>
                  <a:cubicBezTo>
                    <a:pt x="1150687" y="196847"/>
                    <a:pt x="1093912" y="253622"/>
                    <a:pt x="1023876" y="253622"/>
                  </a:cubicBezTo>
                  <a:lnTo>
                    <a:pt x="126811" y="253622"/>
                  </a:lnTo>
                  <a:cubicBezTo>
                    <a:pt x="56775" y="253622"/>
                    <a:pt x="0" y="196847"/>
                    <a:pt x="0" y="126811"/>
                  </a:cubicBezTo>
                  <a:lnTo>
                    <a:pt x="0" y="126811"/>
                  </a:lnTo>
                  <a:cubicBezTo>
                    <a:pt x="0" y="56775"/>
                    <a:pt x="56775" y="0"/>
                    <a:pt x="126811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150687" cy="244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0626" y="4351591"/>
            <a:ext cx="7968674" cy="3944625"/>
            <a:chOff x="0" y="0"/>
            <a:chExt cx="1942770" cy="9617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42770" cy="961703"/>
            </a:xfrm>
            <a:custGeom>
              <a:avLst/>
              <a:gdLst/>
              <a:ahLst/>
              <a:cxnLst/>
              <a:rect r="r" b="b" t="t" l="l"/>
              <a:pathLst>
                <a:path h="961703" w="1942770">
                  <a:moveTo>
                    <a:pt x="34004" y="0"/>
                  </a:moveTo>
                  <a:lnTo>
                    <a:pt x="1908766" y="0"/>
                  </a:lnTo>
                  <a:cubicBezTo>
                    <a:pt x="1917784" y="0"/>
                    <a:pt x="1926434" y="3583"/>
                    <a:pt x="1932811" y="9960"/>
                  </a:cubicBezTo>
                  <a:cubicBezTo>
                    <a:pt x="1939188" y="16337"/>
                    <a:pt x="1942770" y="24986"/>
                    <a:pt x="1942770" y="34004"/>
                  </a:cubicBezTo>
                  <a:lnTo>
                    <a:pt x="1942770" y="927699"/>
                  </a:lnTo>
                  <a:cubicBezTo>
                    <a:pt x="1942770" y="936718"/>
                    <a:pt x="1939188" y="945367"/>
                    <a:pt x="1932811" y="951744"/>
                  </a:cubicBezTo>
                  <a:cubicBezTo>
                    <a:pt x="1926434" y="958121"/>
                    <a:pt x="1917784" y="961703"/>
                    <a:pt x="1908766" y="961703"/>
                  </a:cubicBezTo>
                  <a:lnTo>
                    <a:pt x="34004" y="961703"/>
                  </a:lnTo>
                  <a:cubicBezTo>
                    <a:pt x="24986" y="961703"/>
                    <a:pt x="16337" y="958121"/>
                    <a:pt x="9960" y="951744"/>
                  </a:cubicBezTo>
                  <a:cubicBezTo>
                    <a:pt x="3583" y="945367"/>
                    <a:pt x="0" y="936718"/>
                    <a:pt x="0" y="927699"/>
                  </a:cubicBezTo>
                  <a:lnTo>
                    <a:pt x="0" y="34004"/>
                  </a:lnTo>
                  <a:cubicBezTo>
                    <a:pt x="0" y="24986"/>
                    <a:pt x="3583" y="16337"/>
                    <a:pt x="9960" y="9960"/>
                  </a:cubicBezTo>
                  <a:cubicBezTo>
                    <a:pt x="16337" y="3583"/>
                    <a:pt x="24986" y="0"/>
                    <a:pt x="34004" y="0"/>
                  </a:cubicBezTo>
                  <a:close/>
                </a:path>
              </a:pathLst>
            </a:custGeom>
            <a:solidFill>
              <a:srgbClr val="173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942770" cy="952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90455" y="3870105"/>
            <a:ext cx="4369015" cy="962972"/>
            <a:chOff x="0" y="0"/>
            <a:chExt cx="1150687" cy="2536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0687" cy="253622"/>
            </a:xfrm>
            <a:custGeom>
              <a:avLst/>
              <a:gdLst/>
              <a:ahLst/>
              <a:cxnLst/>
              <a:rect r="r" b="b" t="t" l="l"/>
              <a:pathLst>
                <a:path h="253622" w="1150687">
                  <a:moveTo>
                    <a:pt x="126811" y="0"/>
                  </a:moveTo>
                  <a:lnTo>
                    <a:pt x="1023876" y="0"/>
                  </a:lnTo>
                  <a:cubicBezTo>
                    <a:pt x="1093912" y="0"/>
                    <a:pt x="1150687" y="56775"/>
                    <a:pt x="1150687" y="126811"/>
                  </a:cubicBezTo>
                  <a:lnTo>
                    <a:pt x="1150687" y="126811"/>
                  </a:lnTo>
                  <a:cubicBezTo>
                    <a:pt x="1150687" y="196847"/>
                    <a:pt x="1093912" y="253622"/>
                    <a:pt x="1023876" y="253622"/>
                  </a:cubicBezTo>
                  <a:lnTo>
                    <a:pt x="126811" y="253622"/>
                  </a:lnTo>
                  <a:cubicBezTo>
                    <a:pt x="56775" y="253622"/>
                    <a:pt x="0" y="196847"/>
                    <a:pt x="0" y="126811"/>
                  </a:cubicBezTo>
                  <a:lnTo>
                    <a:pt x="0" y="126811"/>
                  </a:lnTo>
                  <a:cubicBezTo>
                    <a:pt x="0" y="56775"/>
                    <a:pt x="56775" y="0"/>
                    <a:pt x="126811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150687" cy="244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2150748">
            <a:off x="2750157" y="1098178"/>
            <a:ext cx="1393771" cy="777608"/>
          </a:xfrm>
          <a:custGeom>
            <a:avLst/>
            <a:gdLst/>
            <a:ahLst/>
            <a:cxnLst/>
            <a:rect r="r" b="b" t="t" l="l"/>
            <a:pathLst>
              <a:path h="777608" w="1393771">
                <a:moveTo>
                  <a:pt x="0" y="0"/>
                </a:moveTo>
                <a:lnTo>
                  <a:pt x="1393771" y="0"/>
                </a:lnTo>
                <a:lnTo>
                  <a:pt x="1393771" y="777608"/>
                </a:lnTo>
                <a:lnTo>
                  <a:pt x="0" y="777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850449">
            <a:off x="14433448" y="2510797"/>
            <a:ext cx="1464564" cy="1058758"/>
          </a:xfrm>
          <a:custGeom>
            <a:avLst/>
            <a:gdLst/>
            <a:ahLst/>
            <a:cxnLst/>
            <a:rect r="r" b="b" t="t" l="l"/>
            <a:pathLst>
              <a:path h="1058758" w="1464564">
                <a:moveTo>
                  <a:pt x="0" y="0"/>
                </a:moveTo>
                <a:lnTo>
                  <a:pt x="1464564" y="0"/>
                </a:lnTo>
                <a:lnTo>
                  <a:pt x="1464564" y="1058757"/>
                </a:lnTo>
                <a:lnTo>
                  <a:pt x="0" y="10587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22270" y="4160613"/>
            <a:ext cx="3781534" cy="43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b="true" sz="2995" spc="-152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01 — Model Diusulkan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8681" y="5043852"/>
            <a:ext cx="7108713" cy="247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4"/>
              </a:lnSpc>
            </a:pPr>
            <a:r>
              <a:rPr lang="en-US" b="true" sz="3502" spc="-227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Bagaimana merancang model hibrida </a:t>
            </a:r>
            <a:r>
              <a:rPr lang="en-US" b="true" sz="3502" i="true" spc="-227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EfficientNet-B0 </a:t>
            </a:r>
            <a:r>
              <a:rPr lang="en-US" b="true" sz="3502" spc="-227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dan </a:t>
            </a:r>
            <a:r>
              <a:rPr lang="en-US" b="true" sz="3502" i="true" spc="-227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Prototypical Network </a:t>
            </a:r>
            <a:r>
              <a:rPr lang="en-US" b="true" sz="3502" spc="-227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untuk klasifikasi multikelas </a:t>
            </a:r>
            <a:r>
              <a:rPr lang="en-US" b="true" sz="3502" i="true" spc="-227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Diabetic Retinopathy</a:t>
            </a:r>
            <a:r>
              <a:rPr lang="en-US" b="true" sz="3502" spc="-227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37326" y="4160613"/>
            <a:ext cx="4075275" cy="43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b="true" sz="2995" spc="-152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02 — Evaluasi Performa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20607" y="5043852"/>
            <a:ext cx="7108713" cy="247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4"/>
              </a:lnSpc>
            </a:pPr>
            <a:r>
              <a:rPr lang="en-US" b="true" sz="3502" spc="-227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Bagaimana pengaruh integrasi </a:t>
            </a:r>
            <a:r>
              <a:rPr lang="en-US" b="true" sz="3502" i="true" spc="-227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Prototypical Network </a:t>
            </a:r>
            <a:r>
              <a:rPr lang="en-US" b="true" sz="3502" spc="-227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terhadap peningkatan performa dibandingkan model </a:t>
            </a:r>
            <a:r>
              <a:rPr lang="en-US" b="true" sz="3502" i="true" spc="-227">
                <a:solidFill>
                  <a:srgbClr val="FFFCF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baseline</a:t>
            </a:r>
            <a:r>
              <a:rPr lang="en-US" b="true" sz="3502" spc="-227">
                <a:solidFill>
                  <a:srgbClr val="FFFCF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47042" y="1668557"/>
            <a:ext cx="11393916" cy="137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b="true" sz="10000" spc="-640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Rumusan Masalah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572000" y="-514350"/>
            <a:ext cx="9144000" cy="1028700"/>
            <a:chOff x="0" y="0"/>
            <a:chExt cx="2229316" cy="2507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29316" cy="250798"/>
            </a:xfrm>
            <a:custGeom>
              <a:avLst/>
              <a:gdLst/>
              <a:ahLst/>
              <a:cxnLst/>
              <a:rect r="r" b="b" t="t" l="l"/>
              <a:pathLst>
                <a:path h="250798" w="2229316">
                  <a:moveTo>
                    <a:pt x="84667" y="0"/>
                  </a:moveTo>
                  <a:lnTo>
                    <a:pt x="2144649" y="0"/>
                  </a:lnTo>
                  <a:cubicBezTo>
                    <a:pt x="2191409" y="0"/>
                    <a:pt x="2229316" y="37907"/>
                    <a:pt x="2229316" y="84667"/>
                  </a:cubicBezTo>
                  <a:lnTo>
                    <a:pt x="2229316" y="166131"/>
                  </a:lnTo>
                  <a:cubicBezTo>
                    <a:pt x="2229316" y="212891"/>
                    <a:pt x="2191409" y="250798"/>
                    <a:pt x="2144649" y="250798"/>
                  </a:cubicBezTo>
                  <a:lnTo>
                    <a:pt x="84667" y="250798"/>
                  </a:lnTo>
                  <a:cubicBezTo>
                    <a:pt x="37907" y="250798"/>
                    <a:pt x="0" y="212891"/>
                    <a:pt x="0" y="166131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229316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72000" y="9772650"/>
            <a:ext cx="9144000" cy="1028700"/>
            <a:chOff x="0" y="0"/>
            <a:chExt cx="2229316" cy="2507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29316" cy="250798"/>
            </a:xfrm>
            <a:custGeom>
              <a:avLst/>
              <a:gdLst/>
              <a:ahLst/>
              <a:cxnLst/>
              <a:rect r="r" b="b" t="t" l="l"/>
              <a:pathLst>
                <a:path h="250798" w="2229316">
                  <a:moveTo>
                    <a:pt x="84667" y="0"/>
                  </a:moveTo>
                  <a:lnTo>
                    <a:pt x="2144649" y="0"/>
                  </a:lnTo>
                  <a:cubicBezTo>
                    <a:pt x="2191409" y="0"/>
                    <a:pt x="2229316" y="37907"/>
                    <a:pt x="2229316" y="84667"/>
                  </a:cubicBezTo>
                  <a:lnTo>
                    <a:pt x="2229316" y="166131"/>
                  </a:lnTo>
                  <a:cubicBezTo>
                    <a:pt x="2229316" y="212891"/>
                    <a:pt x="2191409" y="250798"/>
                    <a:pt x="2144649" y="250798"/>
                  </a:cubicBezTo>
                  <a:lnTo>
                    <a:pt x="84667" y="250798"/>
                  </a:lnTo>
                  <a:cubicBezTo>
                    <a:pt x="37907" y="250798"/>
                    <a:pt x="0" y="212891"/>
                    <a:pt x="0" y="166131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2229316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82175"/>
            <a:ext cx="9238128" cy="1028700"/>
            <a:chOff x="0" y="0"/>
            <a:chExt cx="2252264" cy="250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2264" cy="250798"/>
            </a:xfrm>
            <a:custGeom>
              <a:avLst/>
              <a:gdLst/>
              <a:ahLst/>
              <a:cxnLst/>
              <a:rect r="r" b="b" t="t" l="l"/>
              <a:pathLst>
                <a:path h="250798" w="2252264">
                  <a:moveTo>
                    <a:pt x="0" y="0"/>
                  </a:moveTo>
                  <a:lnTo>
                    <a:pt x="2252264" y="0"/>
                  </a:lnTo>
                  <a:lnTo>
                    <a:pt x="2252264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252264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792700" y="9782175"/>
            <a:ext cx="1028700" cy="1028700"/>
            <a:chOff x="0" y="0"/>
            <a:chExt cx="250798" cy="2507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798" cy="250798"/>
            </a:xfrm>
            <a:custGeom>
              <a:avLst/>
              <a:gdLst/>
              <a:ahLst/>
              <a:cxnLst/>
              <a:rect r="r" b="b" t="t" l="l"/>
              <a:pathLst>
                <a:path h="250798" w="250798">
                  <a:moveTo>
                    <a:pt x="0" y="0"/>
                  </a:moveTo>
                  <a:lnTo>
                    <a:pt x="250798" y="0"/>
                  </a:lnTo>
                  <a:lnTo>
                    <a:pt x="250798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50798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6442313"/>
            <a:ext cx="530009" cy="530009"/>
          </a:xfrm>
          <a:custGeom>
            <a:avLst/>
            <a:gdLst/>
            <a:ahLst/>
            <a:cxnLst/>
            <a:rect r="r" b="b" t="t" l="l"/>
            <a:pathLst>
              <a:path h="530009" w="530009">
                <a:moveTo>
                  <a:pt x="0" y="0"/>
                </a:moveTo>
                <a:lnTo>
                  <a:pt x="530009" y="0"/>
                </a:lnTo>
                <a:lnTo>
                  <a:pt x="530009" y="530009"/>
                </a:lnTo>
                <a:lnTo>
                  <a:pt x="0" y="530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3785418"/>
            <a:ext cx="530009" cy="530009"/>
          </a:xfrm>
          <a:custGeom>
            <a:avLst/>
            <a:gdLst/>
            <a:ahLst/>
            <a:cxnLst/>
            <a:rect r="r" b="b" t="t" l="l"/>
            <a:pathLst>
              <a:path h="530009" w="530009">
                <a:moveTo>
                  <a:pt x="0" y="0"/>
                </a:moveTo>
                <a:lnTo>
                  <a:pt x="530009" y="0"/>
                </a:lnTo>
                <a:lnTo>
                  <a:pt x="530009" y="530009"/>
                </a:lnTo>
                <a:lnTo>
                  <a:pt x="0" y="530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523818">
            <a:off x="5003266" y="341707"/>
            <a:ext cx="954835" cy="523966"/>
          </a:xfrm>
          <a:custGeom>
            <a:avLst/>
            <a:gdLst/>
            <a:ahLst/>
            <a:cxnLst/>
            <a:rect r="r" b="b" t="t" l="l"/>
            <a:pathLst>
              <a:path h="523966" w="954835">
                <a:moveTo>
                  <a:pt x="0" y="0"/>
                </a:moveTo>
                <a:lnTo>
                  <a:pt x="954836" y="0"/>
                </a:lnTo>
                <a:lnTo>
                  <a:pt x="954836" y="523966"/>
                </a:lnTo>
                <a:lnTo>
                  <a:pt x="0" y="523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87961" y="2445820"/>
            <a:ext cx="5450062" cy="5450062"/>
          </a:xfrm>
          <a:custGeom>
            <a:avLst/>
            <a:gdLst/>
            <a:ahLst/>
            <a:cxnLst/>
            <a:rect r="r" b="b" t="t" l="l"/>
            <a:pathLst>
              <a:path h="5450062" w="5450062">
                <a:moveTo>
                  <a:pt x="0" y="0"/>
                </a:moveTo>
                <a:lnTo>
                  <a:pt x="5450062" y="0"/>
                </a:lnTo>
                <a:lnTo>
                  <a:pt x="5450062" y="5450063"/>
                </a:lnTo>
                <a:lnTo>
                  <a:pt x="0" y="5450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70426" y="6537220"/>
            <a:ext cx="4801039" cy="435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3200" spc="-204" b="true">
                <a:solidFill>
                  <a:srgbClr val="EF6835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02 — Evaluasi Performa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010089"/>
            <a:ext cx="10883552" cy="106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1" spc="-19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Menganalisis pengaruh integrasi </a:t>
            </a:r>
            <a:r>
              <a:rPr lang="en-US" b="true" sz="3001" i="true" spc="-195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Prototypical Network </a:t>
            </a:r>
            <a:r>
              <a:rPr lang="en-US" sz="3001" spc="-19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sebagai </a:t>
            </a:r>
            <a:r>
              <a:rPr lang="en-US" b="true" sz="3001" i="true" spc="-195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classifier </a:t>
            </a:r>
            <a:r>
              <a:rPr lang="en-US" sz="3001" spc="-19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terhadap performa klasifikasi dibandingkan model </a:t>
            </a:r>
            <a:r>
              <a:rPr lang="en-US" b="true" sz="3001" i="true" spc="-195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baseline</a:t>
            </a:r>
            <a:r>
              <a:rPr lang="en-US" sz="3001" spc="-19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0426" y="3880325"/>
            <a:ext cx="4980333" cy="435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3200" spc="-204" b="true">
                <a:solidFill>
                  <a:srgbClr val="EF6835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01 — Penerapan 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353194"/>
            <a:ext cx="9559261" cy="106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1" spc="-19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Menerapkan model hibrida </a:t>
            </a:r>
            <a:r>
              <a:rPr lang="en-US" b="true" sz="3001" i="true" spc="-195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EfficientNet-B0</a:t>
            </a:r>
            <a:r>
              <a:rPr lang="en-US" sz="3001" spc="-19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dan </a:t>
            </a:r>
            <a:r>
              <a:rPr lang="en-US" b="true" sz="3001" i="true" spc="-195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Prototypical Network </a:t>
            </a:r>
            <a:r>
              <a:rPr lang="en-US" sz="3001" spc="-19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untuk klasifikasi multikelas </a:t>
            </a:r>
            <a:r>
              <a:rPr lang="en-US" b="true" sz="3001" i="true" spc="-195">
                <a:solidFill>
                  <a:srgbClr val="173837"/>
                </a:solidFill>
                <a:latin typeface="Public Sans Bold Italics"/>
                <a:ea typeface="Public Sans Bold Italics"/>
                <a:cs typeface="Public Sans Bold Italics"/>
                <a:sym typeface="Public Sans Bold Italics"/>
              </a:rPr>
              <a:t>Diabetic Retinopathy</a:t>
            </a:r>
            <a:r>
              <a:rPr lang="en-US" sz="3001" spc="-195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65615"/>
            <a:ext cx="7274855" cy="25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1"/>
              </a:lnSpc>
            </a:pPr>
            <a:r>
              <a:rPr lang="en-US" sz="9599" spc="-614" b="true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Tujuan Penelitian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63050" y="-514350"/>
            <a:ext cx="9144000" cy="1028700"/>
            <a:chOff x="0" y="0"/>
            <a:chExt cx="2229316" cy="2507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29316" cy="250798"/>
            </a:xfrm>
            <a:custGeom>
              <a:avLst/>
              <a:gdLst/>
              <a:ahLst/>
              <a:cxnLst/>
              <a:rect r="r" b="b" t="t" l="l"/>
              <a:pathLst>
                <a:path h="250798" w="2229316">
                  <a:moveTo>
                    <a:pt x="0" y="0"/>
                  </a:moveTo>
                  <a:lnTo>
                    <a:pt x="2229316" y="0"/>
                  </a:lnTo>
                  <a:lnTo>
                    <a:pt x="2229316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229316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514350" y="-514350"/>
            <a:ext cx="1028700" cy="1028700"/>
            <a:chOff x="0" y="0"/>
            <a:chExt cx="250798" cy="2507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0798" cy="250798"/>
            </a:xfrm>
            <a:custGeom>
              <a:avLst/>
              <a:gdLst/>
              <a:ahLst/>
              <a:cxnLst/>
              <a:rect r="r" b="b" t="t" l="l"/>
              <a:pathLst>
                <a:path h="250798" w="250798">
                  <a:moveTo>
                    <a:pt x="0" y="0"/>
                  </a:moveTo>
                  <a:lnTo>
                    <a:pt x="250798" y="0"/>
                  </a:lnTo>
                  <a:lnTo>
                    <a:pt x="250798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250798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898181" y="0"/>
            <a:ext cx="0" cy="10287000"/>
          </a:xfrm>
          <a:prstGeom prst="line">
            <a:avLst/>
          </a:prstGeom>
          <a:ln cap="rnd" w="28575">
            <a:solidFill>
              <a:srgbClr val="173837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679440" y="1042432"/>
            <a:ext cx="437483" cy="437483"/>
          </a:xfrm>
          <a:custGeom>
            <a:avLst/>
            <a:gdLst/>
            <a:ahLst/>
            <a:cxnLst/>
            <a:rect r="r" b="b" t="t" l="l"/>
            <a:pathLst>
              <a:path h="437483" w="437483">
                <a:moveTo>
                  <a:pt x="0" y="0"/>
                </a:moveTo>
                <a:lnTo>
                  <a:pt x="437483" y="0"/>
                </a:lnTo>
                <a:lnTo>
                  <a:pt x="437483" y="437484"/>
                </a:lnTo>
                <a:lnTo>
                  <a:pt x="0" y="437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79440" y="3181955"/>
            <a:ext cx="437483" cy="437483"/>
          </a:xfrm>
          <a:custGeom>
            <a:avLst/>
            <a:gdLst/>
            <a:ahLst/>
            <a:cxnLst/>
            <a:rect r="r" b="b" t="t" l="l"/>
            <a:pathLst>
              <a:path h="437483" w="437483">
                <a:moveTo>
                  <a:pt x="0" y="0"/>
                </a:moveTo>
                <a:lnTo>
                  <a:pt x="437483" y="0"/>
                </a:lnTo>
                <a:lnTo>
                  <a:pt x="437483" y="437483"/>
                </a:lnTo>
                <a:lnTo>
                  <a:pt x="0" y="437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79440" y="5322367"/>
            <a:ext cx="437483" cy="437483"/>
          </a:xfrm>
          <a:custGeom>
            <a:avLst/>
            <a:gdLst/>
            <a:ahLst/>
            <a:cxnLst/>
            <a:rect r="r" b="b" t="t" l="l"/>
            <a:pathLst>
              <a:path h="437483" w="437483">
                <a:moveTo>
                  <a:pt x="0" y="0"/>
                </a:moveTo>
                <a:lnTo>
                  <a:pt x="437483" y="0"/>
                </a:lnTo>
                <a:lnTo>
                  <a:pt x="437483" y="437484"/>
                </a:lnTo>
                <a:lnTo>
                  <a:pt x="0" y="437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79440" y="7461890"/>
            <a:ext cx="437483" cy="437483"/>
          </a:xfrm>
          <a:custGeom>
            <a:avLst/>
            <a:gdLst/>
            <a:ahLst/>
            <a:cxnLst/>
            <a:rect r="r" b="b" t="t" l="l"/>
            <a:pathLst>
              <a:path h="437483" w="437483">
                <a:moveTo>
                  <a:pt x="0" y="0"/>
                </a:moveTo>
                <a:lnTo>
                  <a:pt x="437483" y="0"/>
                </a:lnTo>
                <a:lnTo>
                  <a:pt x="437483" y="437483"/>
                </a:lnTo>
                <a:lnTo>
                  <a:pt x="0" y="4374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57127">
            <a:off x="8004397" y="1733675"/>
            <a:ext cx="1315411" cy="1058906"/>
          </a:xfrm>
          <a:custGeom>
            <a:avLst/>
            <a:gdLst/>
            <a:ahLst/>
            <a:cxnLst/>
            <a:rect r="r" b="b" t="t" l="l"/>
            <a:pathLst>
              <a:path h="1058906" w="1315411">
                <a:moveTo>
                  <a:pt x="0" y="0"/>
                </a:moveTo>
                <a:lnTo>
                  <a:pt x="1315411" y="0"/>
                </a:lnTo>
                <a:lnTo>
                  <a:pt x="1315411" y="1058906"/>
                </a:lnTo>
                <a:lnTo>
                  <a:pt x="0" y="10589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70044" y="1095375"/>
            <a:ext cx="2664696" cy="53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spc="-255" b="true">
                <a:solidFill>
                  <a:srgbClr val="1B4342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Tahap - 1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70044" y="1444298"/>
            <a:ext cx="5989256" cy="68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-259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Pengumpulan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70044" y="3234898"/>
            <a:ext cx="2664696" cy="53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spc="-255" b="true">
                <a:solidFill>
                  <a:srgbClr val="1B4342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Tahap - 2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70044" y="3574296"/>
            <a:ext cx="5989256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spc="-260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70044" y="5375310"/>
            <a:ext cx="2664696" cy="53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spc="-255" b="true">
                <a:solidFill>
                  <a:srgbClr val="1B4342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Tahap - 3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70044" y="5714709"/>
            <a:ext cx="5989256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spc="-260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Pembangunan Model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70044" y="7514833"/>
            <a:ext cx="2664696" cy="539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999" spc="-255" b="true">
                <a:solidFill>
                  <a:srgbClr val="1B4342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Tahap - 4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70044" y="7854231"/>
            <a:ext cx="5989256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spc="-260" b="true">
                <a:solidFill>
                  <a:srgbClr val="173837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Evaluasi 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683147"/>
            <a:ext cx="8367919" cy="108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8000" spc="-512" b="true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Alur Penelitian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590480" y="4200695"/>
            <a:ext cx="3244358" cy="3244358"/>
          </a:xfrm>
          <a:custGeom>
            <a:avLst/>
            <a:gdLst/>
            <a:ahLst/>
            <a:cxnLst/>
            <a:rect r="r" b="b" t="t" l="l"/>
            <a:pathLst>
              <a:path h="3244358" w="3244358">
                <a:moveTo>
                  <a:pt x="0" y="0"/>
                </a:moveTo>
                <a:lnTo>
                  <a:pt x="3244358" y="0"/>
                </a:lnTo>
                <a:lnTo>
                  <a:pt x="3244358" y="3244358"/>
                </a:lnTo>
                <a:lnTo>
                  <a:pt x="0" y="32443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-1828800" y="9258300"/>
            <a:ext cx="2857500" cy="2857500"/>
            <a:chOff x="0" y="0"/>
            <a:chExt cx="696661" cy="6966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6661" cy="696661"/>
            </a:xfrm>
            <a:custGeom>
              <a:avLst/>
              <a:gdLst/>
              <a:ahLst/>
              <a:cxnLst/>
              <a:rect r="r" b="b" t="t" l="l"/>
              <a:pathLst>
                <a:path h="696661" w="696661">
                  <a:moveTo>
                    <a:pt x="270933" y="0"/>
                  </a:moveTo>
                  <a:lnTo>
                    <a:pt x="425728" y="0"/>
                  </a:lnTo>
                  <a:cubicBezTo>
                    <a:pt x="497584" y="0"/>
                    <a:pt x="566497" y="28545"/>
                    <a:pt x="617307" y="79355"/>
                  </a:cubicBezTo>
                  <a:cubicBezTo>
                    <a:pt x="668117" y="130164"/>
                    <a:pt x="696661" y="199077"/>
                    <a:pt x="696661" y="270933"/>
                  </a:cubicBezTo>
                  <a:lnTo>
                    <a:pt x="696661" y="425728"/>
                  </a:lnTo>
                  <a:cubicBezTo>
                    <a:pt x="696661" y="497584"/>
                    <a:pt x="668117" y="566497"/>
                    <a:pt x="617307" y="617307"/>
                  </a:cubicBezTo>
                  <a:cubicBezTo>
                    <a:pt x="566497" y="668117"/>
                    <a:pt x="497584" y="696661"/>
                    <a:pt x="425728" y="696661"/>
                  </a:cubicBezTo>
                  <a:lnTo>
                    <a:pt x="270933" y="696661"/>
                  </a:lnTo>
                  <a:cubicBezTo>
                    <a:pt x="199077" y="696661"/>
                    <a:pt x="130164" y="668117"/>
                    <a:pt x="79355" y="617307"/>
                  </a:cubicBezTo>
                  <a:cubicBezTo>
                    <a:pt x="28545" y="566497"/>
                    <a:pt x="0" y="497584"/>
                    <a:pt x="0" y="425728"/>
                  </a:cubicBezTo>
                  <a:lnTo>
                    <a:pt x="0" y="270933"/>
                  </a:lnTo>
                  <a:cubicBezTo>
                    <a:pt x="0" y="199077"/>
                    <a:pt x="28545" y="130164"/>
                    <a:pt x="79355" y="79355"/>
                  </a:cubicBezTo>
                  <a:cubicBezTo>
                    <a:pt x="130164" y="28545"/>
                    <a:pt x="199077" y="0"/>
                    <a:pt x="270933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696661" cy="687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4057650" y="-514350"/>
            <a:ext cx="9144000" cy="1028700"/>
            <a:chOff x="0" y="0"/>
            <a:chExt cx="2229316" cy="2507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29316" cy="250798"/>
            </a:xfrm>
            <a:custGeom>
              <a:avLst/>
              <a:gdLst/>
              <a:ahLst/>
              <a:cxnLst/>
              <a:rect r="r" b="b" t="t" l="l"/>
              <a:pathLst>
                <a:path h="250798" w="2229316">
                  <a:moveTo>
                    <a:pt x="84667" y="0"/>
                  </a:moveTo>
                  <a:lnTo>
                    <a:pt x="2144649" y="0"/>
                  </a:lnTo>
                  <a:cubicBezTo>
                    <a:pt x="2191409" y="0"/>
                    <a:pt x="2229316" y="37907"/>
                    <a:pt x="2229316" y="84667"/>
                  </a:cubicBezTo>
                  <a:lnTo>
                    <a:pt x="2229316" y="166131"/>
                  </a:lnTo>
                  <a:cubicBezTo>
                    <a:pt x="2229316" y="212891"/>
                    <a:pt x="2191409" y="250798"/>
                    <a:pt x="2144649" y="250798"/>
                  </a:cubicBezTo>
                  <a:lnTo>
                    <a:pt x="84667" y="250798"/>
                  </a:lnTo>
                  <a:cubicBezTo>
                    <a:pt x="37907" y="250798"/>
                    <a:pt x="0" y="212891"/>
                    <a:pt x="0" y="166131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2229316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0" y="9772650"/>
            <a:ext cx="9144000" cy="1028700"/>
            <a:chOff x="0" y="0"/>
            <a:chExt cx="2229316" cy="2507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29316" cy="250798"/>
            </a:xfrm>
            <a:custGeom>
              <a:avLst/>
              <a:gdLst/>
              <a:ahLst/>
              <a:cxnLst/>
              <a:rect r="r" b="b" t="t" l="l"/>
              <a:pathLst>
                <a:path h="250798" w="2229316">
                  <a:moveTo>
                    <a:pt x="84667" y="0"/>
                  </a:moveTo>
                  <a:lnTo>
                    <a:pt x="2144649" y="0"/>
                  </a:lnTo>
                  <a:cubicBezTo>
                    <a:pt x="2191409" y="0"/>
                    <a:pt x="2229316" y="37907"/>
                    <a:pt x="2229316" y="84667"/>
                  </a:cubicBezTo>
                  <a:lnTo>
                    <a:pt x="2229316" y="166131"/>
                  </a:lnTo>
                  <a:cubicBezTo>
                    <a:pt x="2229316" y="212891"/>
                    <a:pt x="2191409" y="250798"/>
                    <a:pt x="2144649" y="250798"/>
                  </a:cubicBezTo>
                  <a:lnTo>
                    <a:pt x="84667" y="250798"/>
                  </a:lnTo>
                  <a:cubicBezTo>
                    <a:pt x="37907" y="250798"/>
                    <a:pt x="0" y="212891"/>
                    <a:pt x="0" y="166131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2229316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259300" y="-1815068"/>
            <a:ext cx="2857500" cy="2857500"/>
            <a:chOff x="0" y="0"/>
            <a:chExt cx="696661" cy="6966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6661" cy="696661"/>
            </a:xfrm>
            <a:custGeom>
              <a:avLst/>
              <a:gdLst/>
              <a:ahLst/>
              <a:cxnLst/>
              <a:rect r="r" b="b" t="t" l="l"/>
              <a:pathLst>
                <a:path h="696661" w="696661">
                  <a:moveTo>
                    <a:pt x="270933" y="0"/>
                  </a:moveTo>
                  <a:lnTo>
                    <a:pt x="425728" y="0"/>
                  </a:lnTo>
                  <a:cubicBezTo>
                    <a:pt x="497584" y="0"/>
                    <a:pt x="566497" y="28545"/>
                    <a:pt x="617307" y="79355"/>
                  </a:cubicBezTo>
                  <a:cubicBezTo>
                    <a:pt x="668117" y="130164"/>
                    <a:pt x="696661" y="199077"/>
                    <a:pt x="696661" y="270933"/>
                  </a:cubicBezTo>
                  <a:lnTo>
                    <a:pt x="696661" y="425728"/>
                  </a:lnTo>
                  <a:cubicBezTo>
                    <a:pt x="696661" y="497584"/>
                    <a:pt x="668117" y="566497"/>
                    <a:pt x="617307" y="617307"/>
                  </a:cubicBezTo>
                  <a:cubicBezTo>
                    <a:pt x="566497" y="668117"/>
                    <a:pt x="497584" y="696661"/>
                    <a:pt x="425728" y="696661"/>
                  </a:cubicBezTo>
                  <a:lnTo>
                    <a:pt x="270933" y="696661"/>
                  </a:lnTo>
                  <a:cubicBezTo>
                    <a:pt x="199077" y="696661"/>
                    <a:pt x="130164" y="668117"/>
                    <a:pt x="79355" y="617307"/>
                  </a:cubicBezTo>
                  <a:cubicBezTo>
                    <a:pt x="28545" y="566497"/>
                    <a:pt x="0" y="497584"/>
                    <a:pt x="0" y="425728"/>
                  </a:cubicBezTo>
                  <a:lnTo>
                    <a:pt x="0" y="270933"/>
                  </a:lnTo>
                  <a:cubicBezTo>
                    <a:pt x="0" y="199077"/>
                    <a:pt x="28545" y="130164"/>
                    <a:pt x="79355" y="79355"/>
                  </a:cubicBezTo>
                  <a:cubicBezTo>
                    <a:pt x="130164" y="28545"/>
                    <a:pt x="199077" y="0"/>
                    <a:pt x="270933" y="0"/>
                  </a:cubicBez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696661" cy="687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81676" y="1069554"/>
            <a:ext cx="7924647" cy="2968141"/>
          </a:xfrm>
          <a:custGeom>
            <a:avLst/>
            <a:gdLst/>
            <a:ahLst/>
            <a:cxnLst/>
            <a:rect r="r" b="b" t="t" l="l"/>
            <a:pathLst>
              <a:path h="2968141" w="7924647">
                <a:moveTo>
                  <a:pt x="0" y="0"/>
                </a:moveTo>
                <a:lnTo>
                  <a:pt x="7924648" y="0"/>
                </a:lnTo>
                <a:lnTo>
                  <a:pt x="7924648" y="2968140"/>
                </a:lnTo>
                <a:lnTo>
                  <a:pt x="0" y="2968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759496">
            <a:off x="-1039155" y="1215121"/>
            <a:ext cx="3107010" cy="3047459"/>
          </a:xfrm>
          <a:custGeom>
            <a:avLst/>
            <a:gdLst/>
            <a:ahLst/>
            <a:cxnLst/>
            <a:rect r="r" b="b" t="t" l="l"/>
            <a:pathLst>
              <a:path h="3047459" w="3107010">
                <a:moveTo>
                  <a:pt x="0" y="0"/>
                </a:moveTo>
                <a:lnTo>
                  <a:pt x="3107010" y="0"/>
                </a:lnTo>
                <a:lnTo>
                  <a:pt x="3107010" y="3047459"/>
                </a:lnTo>
                <a:lnTo>
                  <a:pt x="0" y="30474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689604">
            <a:off x="16289439" y="4997117"/>
            <a:ext cx="3329532" cy="3701193"/>
          </a:xfrm>
          <a:custGeom>
            <a:avLst/>
            <a:gdLst/>
            <a:ahLst/>
            <a:cxnLst/>
            <a:rect r="r" b="b" t="t" l="l"/>
            <a:pathLst>
              <a:path h="3701193" w="3329532">
                <a:moveTo>
                  <a:pt x="0" y="0"/>
                </a:moveTo>
                <a:lnTo>
                  <a:pt x="3329532" y="0"/>
                </a:lnTo>
                <a:lnTo>
                  <a:pt x="3329532" y="3701194"/>
                </a:lnTo>
                <a:lnTo>
                  <a:pt x="0" y="37011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12064" y="4267621"/>
            <a:ext cx="12463873" cy="49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i="true" spc="-227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Dataset </a:t>
            </a:r>
            <a:r>
              <a:rPr lang="en-US" sz="3500" spc="-227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yang digunakan dalam penelitian ini adalah APTOS 2019 </a:t>
            </a:r>
            <a:r>
              <a:rPr lang="en-US" sz="3500" i="true" spc="-227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Blindness Detection </a:t>
            </a:r>
            <a:r>
              <a:rPr lang="en-US" sz="3500" spc="-227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yang terdiri dari 3.662 citra retina berlabel lima tingkat keparahan </a:t>
            </a:r>
            <a:r>
              <a:rPr lang="en-US" sz="3500" i="true" spc="-227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Diabetic Retinopathy</a:t>
            </a:r>
            <a:r>
              <a:rPr lang="en-US" sz="3500" spc="-227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. Seluruh citra dianalisis distribusi kelasnya untuk mengidentifikasi ketidakseimbangan data, kemudian dibagi menjadi data latih dan data uji dengan rasio 80:20 menggunakan </a:t>
            </a:r>
            <a:r>
              <a:rPr lang="en-US" sz="3500" i="true" spc="-227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stratified split </a:t>
            </a:r>
            <a:r>
              <a:rPr lang="en-US" sz="3500" spc="-227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agar proporsi setiap kelas tetap terjaga. Tahap ini memastikan bahwa proses pelatihan dan pengujian dilakukan pada data yang representatif.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472400" y="2939406"/>
            <a:ext cx="730224" cy="730224"/>
          </a:xfrm>
          <a:custGeom>
            <a:avLst/>
            <a:gdLst/>
            <a:ahLst/>
            <a:cxnLst/>
            <a:rect r="r" b="b" t="t" l="l"/>
            <a:pathLst>
              <a:path h="730224" w="730224">
                <a:moveTo>
                  <a:pt x="0" y="0"/>
                </a:moveTo>
                <a:lnTo>
                  <a:pt x="730224" y="0"/>
                </a:lnTo>
                <a:lnTo>
                  <a:pt x="730224" y="730224"/>
                </a:lnTo>
                <a:lnTo>
                  <a:pt x="0" y="730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68069" y="1557275"/>
            <a:ext cx="7151861" cy="211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3"/>
              </a:lnSpc>
            </a:pPr>
            <a:r>
              <a:rPr lang="en-US" b="true" sz="8003" spc="-512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Pengumpulan Data</a:t>
            </a:r>
          </a:p>
        </p:txBody>
      </p:sp>
      <p:grpSp>
        <p:nvGrpSpPr>
          <p:cNvPr name="Group 8" id="8"/>
          <p:cNvGrpSpPr/>
          <p:nvPr/>
        </p:nvGrpSpPr>
        <p:grpSpPr>
          <a:xfrm rot="5400000">
            <a:off x="-4572000" y="9201150"/>
            <a:ext cx="9144000" cy="1028700"/>
            <a:chOff x="0" y="0"/>
            <a:chExt cx="2229316" cy="2507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9316" cy="250798"/>
            </a:xfrm>
            <a:custGeom>
              <a:avLst/>
              <a:gdLst/>
              <a:ahLst/>
              <a:cxnLst/>
              <a:rect r="r" b="b" t="t" l="l"/>
              <a:pathLst>
                <a:path h="250798" w="2229316">
                  <a:moveTo>
                    <a:pt x="0" y="0"/>
                  </a:moveTo>
                  <a:lnTo>
                    <a:pt x="2229316" y="0"/>
                  </a:lnTo>
                  <a:lnTo>
                    <a:pt x="2229316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229316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00000">
            <a:off x="13716000" y="57150"/>
            <a:ext cx="9144000" cy="1028700"/>
            <a:chOff x="0" y="0"/>
            <a:chExt cx="2229316" cy="2507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9316" cy="250798"/>
            </a:xfrm>
            <a:custGeom>
              <a:avLst/>
              <a:gdLst/>
              <a:ahLst/>
              <a:cxnLst/>
              <a:rect r="r" b="b" t="t" l="l"/>
              <a:pathLst>
                <a:path h="250798" w="2229316">
                  <a:moveTo>
                    <a:pt x="0" y="0"/>
                  </a:moveTo>
                  <a:lnTo>
                    <a:pt x="2229316" y="0"/>
                  </a:lnTo>
                  <a:lnTo>
                    <a:pt x="2229316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2229316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773650" y="9715500"/>
            <a:ext cx="1028700" cy="1028700"/>
            <a:chOff x="0" y="0"/>
            <a:chExt cx="250798" cy="2507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0798" cy="250798"/>
            </a:xfrm>
            <a:custGeom>
              <a:avLst/>
              <a:gdLst/>
              <a:ahLst/>
              <a:cxnLst/>
              <a:rect r="r" b="b" t="t" l="l"/>
              <a:pathLst>
                <a:path h="250798" w="250798">
                  <a:moveTo>
                    <a:pt x="0" y="0"/>
                  </a:moveTo>
                  <a:lnTo>
                    <a:pt x="250798" y="0"/>
                  </a:lnTo>
                  <a:lnTo>
                    <a:pt x="250798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250798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514350" y="-457200"/>
            <a:ext cx="1028700" cy="1028700"/>
            <a:chOff x="0" y="0"/>
            <a:chExt cx="250798" cy="2507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0798" cy="250798"/>
            </a:xfrm>
            <a:custGeom>
              <a:avLst/>
              <a:gdLst/>
              <a:ahLst/>
              <a:cxnLst/>
              <a:rect r="r" b="b" t="t" l="l"/>
              <a:pathLst>
                <a:path h="250798" w="250798">
                  <a:moveTo>
                    <a:pt x="0" y="0"/>
                  </a:moveTo>
                  <a:lnTo>
                    <a:pt x="250798" y="0"/>
                  </a:lnTo>
                  <a:lnTo>
                    <a:pt x="250798" y="250798"/>
                  </a:lnTo>
                  <a:lnTo>
                    <a:pt x="0" y="250798"/>
                  </a:ln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50798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21094">
            <a:off x="9105905" y="610940"/>
            <a:ext cx="835520" cy="835520"/>
          </a:xfrm>
          <a:custGeom>
            <a:avLst/>
            <a:gdLst/>
            <a:ahLst/>
            <a:cxnLst/>
            <a:rect r="r" b="b" t="t" l="l"/>
            <a:pathLst>
              <a:path h="835520" w="835520">
                <a:moveTo>
                  <a:pt x="0" y="0"/>
                </a:moveTo>
                <a:lnTo>
                  <a:pt x="835520" y="0"/>
                </a:lnTo>
                <a:lnTo>
                  <a:pt x="835520" y="835520"/>
                </a:lnTo>
                <a:lnTo>
                  <a:pt x="0" y="83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08466">
            <a:off x="9618014" y="4755550"/>
            <a:ext cx="1488536" cy="775900"/>
          </a:xfrm>
          <a:custGeom>
            <a:avLst/>
            <a:gdLst/>
            <a:ahLst/>
            <a:cxnLst/>
            <a:rect r="r" b="b" t="t" l="l"/>
            <a:pathLst>
              <a:path h="775900" w="1488536">
                <a:moveTo>
                  <a:pt x="0" y="0"/>
                </a:moveTo>
                <a:lnTo>
                  <a:pt x="1488536" y="0"/>
                </a:lnTo>
                <a:lnTo>
                  <a:pt x="1488536" y="775900"/>
                </a:lnTo>
                <a:lnTo>
                  <a:pt x="0" y="775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2700000">
            <a:off x="16144875" y="-2143125"/>
            <a:ext cx="4286250" cy="4286250"/>
            <a:chOff x="0" y="0"/>
            <a:chExt cx="1044992" cy="10449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4992" cy="1044992"/>
            </a:xfrm>
            <a:custGeom>
              <a:avLst/>
              <a:gdLst/>
              <a:ahLst/>
              <a:cxnLst/>
              <a:rect r="r" b="b" t="t" l="l"/>
              <a:pathLst>
                <a:path h="1044992" w="1044992">
                  <a:moveTo>
                    <a:pt x="0" y="0"/>
                  </a:moveTo>
                  <a:lnTo>
                    <a:pt x="1044992" y="0"/>
                  </a:lnTo>
                  <a:lnTo>
                    <a:pt x="1044992" y="1044992"/>
                  </a:lnTo>
                  <a:lnTo>
                    <a:pt x="0" y="1044992"/>
                  </a:ln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044992" cy="103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-2143125" y="8143875"/>
            <a:ext cx="4286250" cy="4286250"/>
            <a:chOff x="0" y="0"/>
            <a:chExt cx="1044992" cy="1044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4992" cy="1044992"/>
            </a:xfrm>
            <a:custGeom>
              <a:avLst/>
              <a:gdLst/>
              <a:ahLst/>
              <a:cxnLst/>
              <a:rect r="r" b="b" t="t" l="l"/>
              <a:pathLst>
                <a:path h="1044992" w="1044992">
                  <a:moveTo>
                    <a:pt x="0" y="0"/>
                  </a:moveTo>
                  <a:lnTo>
                    <a:pt x="1044992" y="0"/>
                  </a:lnTo>
                  <a:lnTo>
                    <a:pt x="1044992" y="1044992"/>
                  </a:lnTo>
                  <a:lnTo>
                    <a:pt x="0" y="1044992"/>
                  </a:ln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044992" cy="103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181100"/>
            <a:ext cx="8494965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0"/>
              </a:lnSpc>
            </a:pPr>
            <a:r>
              <a:rPr lang="en-US" sz="9000" spc="-576" b="true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320290"/>
            <a:ext cx="15332289" cy="160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1" i="true" spc="-195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Preprocessing </a:t>
            </a:r>
            <a:r>
              <a:rPr lang="en-US" sz="3001" spc="-19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dilakukan dengan </a:t>
            </a:r>
            <a:r>
              <a:rPr lang="en-US" sz="3001" i="true" spc="-195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circle crop </a:t>
            </a:r>
            <a:r>
              <a:rPr lang="en-US" sz="3001" spc="-19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untuk menghilangkan area non-informatif, </a:t>
            </a:r>
            <a:r>
              <a:rPr lang="en-US" sz="3001" i="true" spc="-195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enhanced green </a:t>
            </a:r>
            <a:r>
              <a:rPr lang="en-US" sz="3001" spc="-19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untuk menonjolkan pembuluh darah dan lesi, serta normalisasi dan </a:t>
            </a:r>
            <a:r>
              <a:rPr lang="en-US" sz="3001" i="true" spc="-195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resize </a:t>
            </a:r>
            <a:r>
              <a:rPr lang="en-US" sz="3001" spc="-195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untuk menstandarkan intensitas piksel dan menyamakan ukuran input citra.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24798" y="3601703"/>
            <a:ext cx="5337841" cy="533784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07158" t="-27830" r="-3109" b="-230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61924" y="4436503"/>
            <a:ext cx="5337841" cy="533784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107" t="-27801" r="-278770" b="-380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9425" y="7082810"/>
            <a:ext cx="8748270" cy="2603471"/>
            <a:chOff x="0" y="0"/>
            <a:chExt cx="2132837" cy="634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2836" cy="634729"/>
            </a:xfrm>
            <a:custGeom>
              <a:avLst/>
              <a:gdLst/>
              <a:ahLst/>
              <a:cxnLst/>
              <a:rect r="r" b="b" t="t" l="l"/>
              <a:pathLst>
                <a:path h="634729" w="2132836">
                  <a:moveTo>
                    <a:pt x="22124" y="0"/>
                  </a:moveTo>
                  <a:lnTo>
                    <a:pt x="2110712" y="0"/>
                  </a:lnTo>
                  <a:cubicBezTo>
                    <a:pt x="2116580" y="0"/>
                    <a:pt x="2122207" y="2331"/>
                    <a:pt x="2126356" y="6480"/>
                  </a:cubicBezTo>
                  <a:cubicBezTo>
                    <a:pt x="2130506" y="10629"/>
                    <a:pt x="2132836" y="16256"/>
                    <a:pt x="2132836" y="22124"/>
                  </a:cubicBezTo>
                  <a:lnTo>
                    <a:pt x="2132836" y="612605"/>
                  </a:lnTo>
                  <a:cubicBezTo>
                    <a:pt x="2132836" y="624823"/>
                    <a:pt x="2122931" y="634729"/>
                    <a:pt x="2110712" y="634729"/>
                  </a:cubicBezTo>
                  <a:lnTo>
                    <a:pt x="22124" y="634729"/>
                  </a:lnTo>
                  <a:cubicBezTo>
                    <a:pt x="16256" y="634729"/>
                    <a:pt x="10629" y="632398"/>
                    <a:pt x="6480" y="628249"/>
                  </a:cubicBezTo>
                  <a:cubicBezTo>
                    <a:pt x="2331" y="624100"/>
                    <a:pt x="0" y="618472"/>
                    <a:pt x="0" y="612605"/>
                  </a:cubicBezTo>
                  <a:lnTo>
                    <a:pt x="0" y="22124"/>
                  </a:lnTo>
                  <a:cubicBezTo>
                    <a:pt x="0" y="16256"/>
                    <a:pt x="2331" y="10629"/>
                    <a:pt x="6480" y="6480"/>
                  </a:cubicBezTo>
                  <a:cubicBezTo>
                    <a:pt x="10629" y="2331"/>
                    <a:pt x="16256" y="0"/>
                    <a:pt x="22124" y="0"/>
                  </a:cubicBezTo>
                  <a:close/>
                </a:path>
              </a:pathLst>
            </a:custGeom>
            <a:solidFill>
              <a:srgbClr val="1738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2132837" cy="625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1033221"/>
            <a:ext cx="8748270" cy="2603471"/>
            <a:chOff x="0" y="0"/>
            <a:chExt cx="2132837" cy="634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2836" cy="634729"/>
            </a:xfrm>
            <a:custGeom>
              <a:avLst/>
              <a:gdLst/>
              <a:ahLst/>
              <a:cxnLst/>
              <a:rect r="r" b="b" t="t" l="l"/>
              <a:pathLst>
                <a:path h="634729" w="2132836">
                  <a:moveTo>
                    <a:pt x="22124" y="0"/>
                  </a:moveTo>
                  <a:lnTo>
                    <a:pt x="2110712" y="0"/>
                  </a:lnTo>
                  <a:cubicBezTo>
                    <a:pt x="2116580" y="0"/>
                    <a:pt x="2122207" y="2331"/>
                    <a:pt x="2126356" y="6480"/>
                  </a:cubicBezTo>
                  <a:cubicBezTo>
                    <a:pt x="2130506" y="10629"/>
                    <a:pt x="2132836" y="16256"/>
                    <a:pt x="2132836" y="22124"/>
                  </a:cubicBezTo>
                  <a:lnTo>
                    <a:pt x="2132836" y="612605"/>
                  </a:lnTo>
                  <a:cubicBezTo>
                    <a:pt x="2132836" y="624823"/>
                    <a:pt x="2122931" y="634729"/>
                    <a:pt x="2110712" y="634729"/>
                  </a:cubicBezTo>
                  <a:lnTo>
                    <a:pt x="22124" y="634729"/>
                  </a:lnTo>
                  <a:cubicBezTo>
                    <a:pt x="16256" y="634729"/>
                    <a:pt x="10629" y="632398"/>
                    <a:pt x="6480" y="628249"/>
                  </a:cubicBezTo>
                  <a:cubicBezTo>
                    <a:pt x="2331" y="624100"/>
                    <a:pt x="0" y="618472"/>
                    <a:pt x="0" y="612605"/>
                  </a:cubicBezTo>
                  <a:lnTo>
                    <a:pt x="0" y="22124"/>
                  </a:lnTo>
                  <a:cubicBezTo>
                    <a:pt x="0" y="16256"/>
                    <a:pt x="2331" y="10629"/>
                    <a:pt x="6480" y="6480"/>
                  </a:cubicBezTo>
                  <a:cubicBezTo>
                    <a:pt x="10629" y="2331"/>
                    <a:pt x="16256" y="0"/>
                    <a:pt x="22124" y="0"/>
                  </a:cubicBezTo>
                  <a:close/>
                </a:path>
              </a:pathLst>
            </a:custGeom>
            <a:solidFill>
              <a:srgbClr val="17383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132837" cy="625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58412" y="4060238"/>
            <a:ext cx="8748270" cy="2603471"/>
            <a:chOff x="0" y="0"/>
            <a:chExt cx="2132837" cy="6347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2836" cy="634729"/>
            </a:xfrm>
            <a:custGeom>
              <a:avLst/>
              <a:gdLst/>
              <a:ahLst/>
              <a:cxnLst/>
              <a:rect r="r" b="b" t="t" l="l"/>
              <a:pathLst>
                <a:path h="634729" w="2132836">
                  <a:moveTo>
                    <a:pt x="22124" y="0"/>
                  </a:moveTo>
                  <a:lnTo>
                    <a:pt x="2110712" y="0"/>
                  </a:lnTo>
                  <a:cubicBezTo>
                    <a:pt x="2116580" y="0"/>
                    <a:pt x="2122207" y="2331"/>
                    <a:pt x="2126356" y="6480"/>
                  </a:cubicBezTo>
                  <a:cubicBezTo>
                    <a:pt x="2130506" y="10629"/>
                    <a:pt x="2132836" y="16256"/>
                    <a:pt x="2132836" y="22124"/>
                  </a:cubicBezTo>
                  <a:lnTo>
                    <a:pt x="2132836" y="612605"/>
                  </a:lnTo>
                  <a:cubicBezTo>
                    <a:pt x="2132836" y="624823"/>
                    <a:pt x="2122931" y="634729"/>
                    <a:pt x="2110712" y="634729"/>
                  </a:cubicBezTo>
                  <a:lnTo>
                    <a:pt x="22124" y="634729"/>
                  </a:lnTo>
                  <a:cubicBezTo>
                    <a:pt x="16256" y="634729"/>
                    <a:pt x="10629" y="632398"/>
                    <a:pt x="6480" y="628249"/>
                  </a:cubicBezTo>
                  <a:cubicBezTo>
                    <a:pt x="2331" y="624100"/>
                    <a:pt x="0" y="618472"/>
                    <a:pt x="0" y="612605"/>
                  </a:cubicBezTo>
                  <a:lnTo>
                    <a:pt x="0" y="22124"/>
                  </a:lnTo>
                  <a:cubicBezTo>
                    <a:pt x="0" y="16256"/>
                    <a:pt x="2331" y="10629"/>
                    <a:pt x="6480" y="6480"/>
                  </a:cubicBezTo>
                  <a:cubicBezTo>
                    <a:pt x="10629" y="2331"/>
                    <a:pt x="16256" y="0"/>
                    <a:pt x="22124" y="0"/>
                  </a:cubicBezTo>
                  <a:close/>
                </a:path>
              </a:pathLst>
            </a:custGeom>
            <a:solidFill>
              <a:srgbClr val="1738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132837" cy="625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97976" y="1748507"/>
            <a:ext cx="7274855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999" spc="-447" b="true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Pembangunan Model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2225515">
            <a:off x="7464728" y="814171"/>
            <a:ext cx="1176617" cy="1162400"/>
          </a:xfrm>
          <a:custGeom>
            <a:avLst/>
            <a:gdLst/>
            <a:ahLst/>
            <a:cxnLst/>
            <a:rect r="r" b="b" t="t" l="l"/>
            <a:pathLst>
              <a:path h="1162400" w="1176617">
                <a:moveTo>
                  <a:pt x="0" y="0"/>
                </a:moveTo>
                <a:lnTo>
                  <a:pt x="1176617" y="0"/>
                </a:lnTo>
                <a:lnTo>
                  <a:pt x="1176617" y="1162400"/>
                </a:lnTo>
                <a:lnTo>
                  <a:pt x="0" y="1162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227067">
            <a:off x="4949454" y="2768893"/>
            <a:ext cx="571899" cy="525909"/>
          </a:xfrm>
          <a:custGeom>
            <a:avLst/>
            <a:gdLst/>
            <a:ahLst/>
            <a:cxnLst/>
            <a:rect r="r" b="b" t="t" l="l"/>
            <a:pathLst>
              <a:path h="525909" w="571899">
                <a:moveTo>
                  <a:pt x="0" y="0"/>
                </a:moveTo>
                <a:lnTo>
                  <a:pt x="571899" y="0"/>
                </a:lnTo>
                <a:lnTo>
                  <a:pt x="571899" y="525909"/>
                </a:lnTo>
                <a:lnTo>
                  <a:pt x="0" y="5259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94963" y="8082907"/>
            <a:ext cx="781719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true" spc="-162">
                <a:solidFill>
                  <a:srgbClr val="FFFCF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Embedding </a:t>
            </a:r>
            <a:r>
              <a:rPr lang="en-US" sz="2499" spc="-162">
                <a:solidFill>
                  <a:srgbClr val="FFFCF7"/>
                </a:solidFill>
                <a:latin typeface="Public Sans"/>
                <a:ea typeface="Public Sans"/>
                <a:cs typeface="Public Sans"/>
                <a:sym typeface="Public Sans"/>
              </a:rPr>
              <a:t>citra uji dihitung jaraknya ke setiap prototipe menggunakan </a:t>
            </a:r>
            <a:r>
              <a:rPr lang="en-US" sz="2499" i="true" spc="-162">
                <a:solidFill>
                  <a:srgbClr val="FFFCF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Euclidean distance </a:t>
            </a:r>
            <a:r>
              <a:rPr lang="en-US" sz="2499" spc="-162">
                <a:solidFill>
                  <a:srgbClr val="FFFCF7"/>
                </a:solidFill>
                <a:latin typeface="Public Sans"/>
                <a:ea typeface="Public Sans"/>
                <a:cs typeface="Public Sans"/>
                <a:sym typeface="Public Sans"/>
              </a:rPr>
              <a:t>untuk menentukan kelas dengan kedekatan tertinggi.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94963" y="7615574"/>
            <a:ext cx="6747025" cy="46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3399" spc="-217" b="true">
                <a:solidFill>
                  <a:srgbClr val="FFB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Distance-based Classification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9538" y="2033318"/>
            <a:ext cx="781719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true" spc="-162">
                <a:solidFill>
                  <a:srgbClr val="FFFCF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EfficientNet-B0 </a:t>
            </a:r>
            <a:r>
              <a:rPr lang="en-US" sz="2499" spc="-162">
                <a:solidFill>
                  <a:srgbClr val="FFFCF7"/>
                </a:solidFill>
                <a:latin typeface="Public Sans"/>
                <a:ea typeface="Public Sans"/>
                <a:cs typeface="Public Sans"/>
                <a:sym typeface="Public Sans"/>
              </a:rPr>
              <a:t>menghasilkan </a:t>
            </a:r>
            <a:r>
              <a:rPr lang="en-US" sz="2499" i="true" spc="-162">
                <a:solidFill>
                  <a:srgbClr val="FFFCF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embedding </a:t>
            </a:r>
            <a:r>
              <a:rPr lang="en-US" sz="2499" spc="-162">
                <a:solidFill>
                  <a:srgbClr val="FFFCF7"/>
                </a:solidFill>
                <a:latin typeface="Public Sans"/>
                <a:ea typeface="Public Sans"/>
                <a:cs typeface="Public Sans"/>
                <a:sym typeface="Public Sans"/>
              </a:rPr>
              <a:t>citra retina berdimensi tetap melalui rangkaian </a:t>
            </a:r>
            <a:r>
              <a:rPr lang="en-US" sz="2499" i="true" spc="-162">
                <a:solidFill>
                  <a:srgbClr val="FFFCF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MBConv </a:t>
            </a:r>
            <a:r>
              <a:rPr lang="en-US" sz="2499" spc="-162">
                <a:solidFill>
                  <a:srgbClr val="FFFCF7"/>
                </a:solidFill>
                <a:latin typeface="Public Sans"/>
                <a:ea typeface="Public Sans"/>
                <a:cs typeface="Public Sans"/>
                <a:sym typeface="Public Sans"/>
              </a:rPr>
              <a:t>untuk menangkap pola lesi dan struktur vaskular.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9538" y="1565985"/>
            <a:ext cx="4164863" cy="46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3399" spc="-217" b="true">
                <a:solidFill>
                  <a:srgbClr val="FFB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Feature Extraction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23951" y="5056537"/>
            <a:ext cx="7817193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i="true" spc="-162">
                <a:solidFill>
                  <a:srgbClr val="FFFCF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Embedding </a:t>
            </a:r>
            <a:r>
              <a:rPr lang="en-US" sz="2499" spc="-162">
                <a:solidFill>
                  <a:srgbClr val="FFFCF7"/>
                </a:solidFill>
                <a:latin typeface="Public Sans"/>
                <a:ea typeface="Public Sans"/>
                <a:cs typeface="Public Sans"/>
                <a:sym typeface="Public Sans"/>
              </a:rPr>
              <a:t>tiap kelas dirata-ratakan untuk membentuk prototipe yang merepresentasikan pusat fitur masing-masing kelas.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23951" y="4589204"/>
            <a:ext cx="5719199" cy="46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3399" spc="-217" b="true">
                <a:solidFill>
                  <a:srgbClr val="FFB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Prototype Formation</a:t>
            </a:r>
          </a:p>
        </p:txBody>
      </p:sp>
      <p:sp>
        <p:nvSpPr>
          <p:cNvPr name="Freeform 20" id="20"/>
          <p:cNvSpPr/>
          <p:nvPr/>
        </p:nvSpPr>
        <p:spPr>
          <a:xfrm flipH="true" flipV="true" rot="0">
            <a:off x="15006683" y="3636693"/>
            <a:ext cx="2558150" cy="1693230"/>
          </a:xfrm>
          <a:custGeom>
            <a:avLst/>
            <a:gdLst/>
            <a:ahLst/>
            <a:cxnLst/>
            <a:rect r="r" b="b" t="t" l="l"/>
            <a:pathLst>
              <a:path h="1693230" w="2558150">
                <a:moveTo>
                  <a:pt x="2558150" y="1693230"/>
                </a:moveTo>
                <a:lnTo>
                  <a:pt x="0" y="1693230"/>
                </a:lnTo>
                <a:lnTo>
                  <a:pt x="0" y="0"/>
                </a:lnTo>
                <a:lnTo>
                  <a:pt x="2558150" y="0"/>
                </a:lnTo>
                <a:lnTo>
                  <a:pt x="2558150" y="16932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3805729">
            <a:off x="3669050" y="5290057"/>
            <a:ext cx="2558150" cy="1693230"/>
          </a:xfrm>
          <a:custGeom>
            <a:avLst/>
            <a:gdLst/>
            <a:ahLst/>
            <a:cxnLst/>
            <a:rect r="r" b="b" t="t" l="l"/>
            <a:pathLst>
              <a:path h="1693230" w="2558150">
                <a:moveTo>
                  <a:pt x="2558150" y="0"/>
                </a:moveTo>
                <a:lnTo>
                  <a:pt x="0" y="0"/>
                </a:lnTo>
                <a:lnTo>
                  <a:pt x="0" y="1693230"/>
                </a:lnTo>
                <a:lnTo>
                  <a:pt x="2558150" y="1693230"/>
                </a:lnTo>
                <a:lnTo>
                  <a:pt x="255815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2700000">
            <a:off x="14001750" y="6000750"/>
            <a:ext cx="8572500" cy="8572500"/>
            <a:chOff x="0" y="0"/>
            <a:chExt cx="2089984" cy="20899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89984" cy="2089984"/>
            </a:xfrm>
            <a:custGeom>
              <a:avLst/>
              <a:gdLst/>
              <a:ahLst/>
              <a:cxnLst/>
              <a:rect r="r" b="b" t="t" l="l"/>
              <a:pathLst>
                <a:path h="2089984" w="2089984">
                  <a:moveTo>
                    <a:pt x="0" y="0"/>
                  </a:moveTo>
                  <a:lnTo>
                    <a:pt x="2089984" y="0"/>
                  </a:lnTo>
                  <a:lnTo>
                    <a:pt x="2089984" y="2089984"/>
                  </a:lnTo>
                  <a:lnTo>
                    <a:pt x="0" y="2089984"/>
                  </a:ln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089984" cy="2080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2700000">
            <a:off x="-2144537" y="-2143125"/>
            <a:ext cx="4286250" cy="4286250"/>
            <a:chOff x="0" y="0"/>
            <a:chExt cx="1044992" cy="10449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4992" cy="1044992"/>
            </a:xfrm>
            <a:custGeom>
              <a:avLst/>
              <a:gdLst/>
              <a:ahLst/>
              <a:cxnLst/>
              <a:rect r="r" b="b" t="t" l="l"/>
              <a:pathLst>
                <a:path h="1044992" w="1044992">
                  <a:moveTo>
                    <a:pt x="0" y="0"/>
                  </a:moveTo>
                  <a:lnTo>
                    <a:pt x="1044992" y="0"/>
                  </a:lnTo>
                  <a:lnTo>
                    <a:pt x="1044992" y="1044992"/>
                  </a:lnTo>
                  <a:lnTo>
                    <a:pt x="0" y="1044992"/>
                  </a:ln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1044992" cy="103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855253" y="566595"/>
            <a:ext cx="10258961" cy="9153811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5120372" y="2151369"/>
            <a:ext cx="2558150" cy="1693230"/>
          </a:xfrm>
          <a:custGeom>
            <a:avLst/>
            <a:gdLst/>
            <a:ahLst/>
            <a:cxnLst/>
            <a:rect r="r" b="b" t="t" l="l"/>
            <a:pathLst>
              <a:path h="1693230" w="2558150">
                <a:moveTo>
                  <a:pt x="0" y="0"/>
                </a:moveTo>
                <a:lnTo>
                  <a:pt x="2558150" y="0"/>
                </a:lnTo>
                <a:lnTo>
                  <a:pt x="2558150" y="1693230"/>
                </a:lnTo>
                <a:lnTo>
                  <a:pt x="0" y="1693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5100" y="9256628"/>
            <a:ext cx="2355693" cy="2276188"/>
          </a:xfrm>
          <a:custGeom>
            <a:avLst/>
            <a:gdLst/>
            <a:ahLst/>
            <a:cxnLst/>
            <a:rect r="r" b="b" t="t" l="l"/>
            <a:pathLst>
              <a:path h="2276188" w="2355693">
                <a:moveTo>
                  <a:pt x="0" y="0"/>
                </a:moveTo>
                <a:lnTo>
                  <a:pt x="2355693" y="0"/>
                </a:lnTo>
                <a:lnTo>
                  <a:pt x="2355693" y="2276189"/>
                </a:lnTo>
                <a:lnTo>
                  <a:pt x="0" y="22761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256011"/>
            <a:ext cx="3881369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6999" spc="-447" b="true">
                <a:solidFill>
                  <a:srgbClr val="17383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Evaluasi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235306"/>
            <a:ext cx="7390175" cy="307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sz="2501" spc="-162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Model dievaluasi menggunakan </a:t>
            </a:r>
            <a:r>
              <a:rPr lang="en-US" sz="2501" i="true" spc="-162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Accuracy</a:t>
            </a:r>
            <a:r>
              <a:rPr lang="en-US" sz="2501" spc="-162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2501" i="true" spc="-162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F1-Score</a:t>
            </a:r>
            <a:r>
              <a:rPr lang="en-US" sz="2501" spc="-162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, dan QWK serta dibandingkan dengan empat </a:t>
            </a:r>
            <a:r>
              <a:rPr lang="en-US" sz="2501" i="true" spc="-162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baseline </a:t>
            </a:r>
            <a:r>
              <a:rPr lang="en-US" sz="2501" spc="-162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untuk melihat pengaruh </a:t>
            </a:r>
            <a:r>
              <a:rPr lang="en-US" sz="2501" i="true" spc="-162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preprocessing </a:t>
            </a:r>
            <a:r>
              <a:rPr lang="en-US" sz="2501" spc="-162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dan </a:t>
            </a:r>
            <a:r>
              <a:rPr lang="en-US" sz="2501" i="true" spc="-162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Prototypical Network</a:t>
            </a:r>
            <a:r>
              <a:rPr lang="en-US" sz="2501" spc="-162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. Performa dianalisis melalui metrik evaluasi dan </a:t>
            </a:r>
            <a:r>
              <a:rPr lang="en-US" sz="2501" i="true" spc="-162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confusion matrix </a:t>
            </a:r>
            <a:r>
              <a:rPr lang="en-US" sz="2501" spc="-162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guna memahami pola prediksi serta dampak integrasi </a:t>
            </a:r>
            <a:r>
              <a:rPr lang="en-US" sz="2501" i="true" spc="-162">
                <a:solidFill>
                  <a:srgbClr val="173837"/>
                </a:solidFill>
                <a:latin typeface="Public Sans Italics"/>
                <a:ea typeface="Public Sans Italics"/>
                <a:cs typeface="Public Sans Italics"/>
                <a:sym typeface="Public Sans Italics"/>
              </a:rPr>
              <a:t>ProtoNet </a:t>
            </a:r>
            <a:r>
              <a:rPr lang="en-US" sz="2501" spc="-162">
                <a:solidFill>
                  <a:srgbClr val="173837"/>
                </a:solidFill>
                <a:latin typeface="Public Sans"/>
                <a:ea typeface="Public Sans"/>
                <a:cs typeface="Public Sans"/>
                <a:sym typeface="Public Sans"/>
              </a:rPr>
              <a:t>terhadap peningkatan klasifikasi, terutama pada kelas minor.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716000" y="9772650"/>
            <a:ext cx="9144000" cy="1028700"/>
            <a:chOff x="0" y="0"/>
            <a:chExt cx="2229316" cy="2507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9316" cy="250798"/>
            </a:xfrm>
            <a:custGeom>
              <a:avLst/>
              <a:gdLst/>
              <a:ahLst/>
              <a:cxnLst/>
              <a:rect r="r" b="b" t="t" l="l"/>
              <a:pathLst>
                <a:path h="250798" w="2229316">
                  <a:moveTo>
                    <a:pt x="84667" y="0"/>
                  </a:moveTo>
                  <a:lnTo>
                    <a:pt x="2144649" y="0"/>
                  </a:lnTo>
                  <a:cubicBezTo>
                    <a:pt x="2191409" y="0"/>
                    <a:pt x="2229316" y="37907"/>
                    <a:pt x="2229316" y="84667"/>
                  </a:cubicBezTo>
                  <a:lnTo>
                    <a:pt x="2229316" y="166131"/>
                  </a:lnTo>
                  <a:cubicBezTo>
                    <a:pt x="2229316" y="212891"/>
                    <a:pt x="2191409" y="250798"/>
                    <a:pt x="2144649" y="250798"/>
                  </a:cubicBezTo>
                  <a:lnTo>
                    <a:pt x="84667" y="250798"/>
                  </a:lnTo>
                  <a:cubicBezTo>
                    <a:pt x="37907" y="250798"/>
                    <a:pt x="0" y="212891"/>
                    <a:pt x="0" y="166131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229316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-1815068"/>
            <a:ext cx="2857500" cy="2857500"/>
            <a:chOff x="0" y="0"/>
            <a:chExt cx="696661" cy="6966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6661" cy="696661"/>
            </a:xfrm>
            <a:custGeom>
              <a:avLst/>
              <a:gdLst/>
              <a:ahLst/>
              <a:cxnLst/>
              <a:rect r="r" b="b" t="t" l="l"/>
              <a:pathLst>
                <a:path h="696661" w="696661">
                  <a:moveTo>
                    <a:pt x="270933" y="0"/>
                  </a:moveTo>
                  <a:lnTo>
                    <a:pt x="425728" y="0"/>
                  </a:lnTo>
                  <a:cubicBezTo>
                    <a:pt x="497584" y="0"/>
                    <a:pt x="566497" y="28545"/>
                    <a:pt x="617307" y="79355"/>
                  </a:cubicBezTo>
                  <a:cubicBezTo>
                    <a:pt x="668117" y="130164"/>
                    <a:pt x="696661" y="199077"/>
                    <a:pt x="696661" y="270933"/>
                  </a:cubicBezTo>
                  <a:lnTo>
                    <a:pt x="696661" y="425728"/>
                  </a:lnTo>
                  <a:cubicBezTo>
                    <a:pt x="696661" y="497584"/>
                    <a:pt x="668117" y="566497"/>
                    <a:pt x="617307" y="617307"/>
                  </a:cubicBezTo>
                  <a:cubicBezTo>
                    <a:pt x="566497" y="668117"/>
                    <a:pt x="497584" y="696661"/>
                    <a:pt x="425728" y="696661"/>
                  </a:cubicBezTo>
                  <a:lnTo>
                    <a:pt x="270933" y="696661"/>
                  </a:lnTo>
                  <a:cubicBezTo>
                    <a:pt x="199077" y="696661"/>
                    <a:pt x="130164" y="668117"/>
                    <a:pt x="79355" y="617307"/>
                  </a:cubicBezTo>
                  <a:cubicBezTo>
                    <a:pt x="28545" y="566497"/>
                    <a:pt x="0" y="497584"/>
                    <a:pt x="0" y="425728"/>
                  </a:cubicBezTo>
                  <a:lnTo>
                    <a:pt x="0" y="270933"/>
                  </a:lnTo>
                  <a:cubicBezTo>
                    <a:pt x="0" y="199077"/>
                    <a:pt x="28545" y="130164"/>
                    <a:pt x="79355" y="79355"/>
                  </a:cubicBezTo>
                  <a:cubicBezTo>
                    <a:pt x="130164" y="28545"/>
                    <a:pt x="199077" y="0"/>
                    <a:pt x="270933" y="0"/>
                  </a:cubicBezTo>
                  <a:close/>
                </a:path>
              </a:pathLst>
            </a:custGeom>
            <a:solidFill>
              <a:srgbClr val="1B434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696661" cy="687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828800" y="9258300"/>
            <a:ext cx="2857500" cy="2857500"/>
            <a:chOff x="0" y="0"/>
            <a:chExt cx="696661" cy="6966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6661" cy="696661"/>
            </a:xfrm>
            <a:custGeom>
              <a:avLst/>
              <a:gdLst/>
              <a:ahLst/>
              <a:cxnLst/>
              <a:rect r="r" b="b" t="t" l="l"/>
              <a:pathLst>
                <a:path h="696661" w="696661">
                  <a:moveTo>
                    <a:pt x="270933" y="0"/>
                  </a:moveTo>
                  <a:lnTo>
                    <a:pt x="425728" y="0"/>
                  </a:lnTo>
                  <a:cubicBezTo>
                    <a:pt x="497584" y="0"/>
                    <a:pt x="566497" y="28545"/>
                    <a:pt x="617307" y="79355"/>
                  </a:cubicBezTo>
                  <a:cubicBezTo>
                    <a:pt x="668117" y="130164"/>
                    <a:pt x="696661" y="199077"/>
                    <a:pt x="696661" y="270933"/>
                  </a:cubicBezTo>
                  <a:lnTo>
                    <a:pt x="696661" y="425728"/>
                  </a:lnTo>
                  <a:cubicBezTo>
                    <a:pt x="696661" y="497584"/>
                    <a:pt x="668117" y="566497"/>
                    <a:pt x="617307" y="617307"/>
                  </a:cubicBezTo>
                  <a:cubicBezTo>
                    <a:pt x="566497" y="668117"/>
                    <a:pt x="497584" y="696661"/>
                    <a:pt x="425728" y="696661"/>
                  </a:cubicBezTo>
                  <a:lnTo>
                    <a:pt x="270933" y="696661"/>
                  </a:lnTo>
                  <a:cubicBezTo>
                    <a:pt x="199077" y="696661"/>
                    <a:pt x="130164" y="668117"/>
                    <a:pt x="79355" y="617307"/>
                  </a:cubicBezTo>
                  <a:cubicBezTo>
                    <a:pt x="28545" y="566497"/>
                    <a:pt x="0" y="497584"/>
                    <a:pt x="0" y="425728"/>
                  </a:cubicBezTo>
                  <a:lnTo>
                    <a:pt x="0" y="270933"/>
                  </a:lnTo>
                  <a:cubicBezTo>
                    <a:pt x="0" y="199077"/>
                    <a:pt x="28545" y="130164"/>
                    <a:pt x="79355" y="79355"/>
                  </a:cubicBezTo>
                  <a:cubicBezTo>
                    <a:pt x="130164" y="28545"/>
                    <a:pt x="199077" y="0"/>
                    <a:pt x="270933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696661" cy="687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4057650" y="-514350"/>
            <a:ext cx="9144000" cy="1028700"/>
            <a:chOff x="0" y="0"/>
            <a:chExt cx="2229316" cy="2507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9316" cy="250798"/>
            </a:xfrm>
            <a:custGeom>
              <a:avLst/>
              <a:gdLst/>
              <a:ahLst/>
              <a:cxnLst/>
              <a:rect r="r" b="b" t="t" l="l"/>
              <a:pathLst>
                <a:path h="250798" w="2229316">
                  <a:moveTo>
                    <a:pt x="84667" y="0"/>
                  </a:moveTo>
                  <a:lnTo>
                    <a:pt x="2144649" y="0"/>
                  </a:lnTo>
                  <a:cubicBezTo>
                    <a:pt x="2191409" y="0"/>
                    <a:pt x="2229316" y="37907"/>
                    <a:pt x="2229316" y="84667"/>
                  </a:cubicBezTo>
                  <a:lnTo>
                    <a:pt x="2229316" y="166131"/>
                  </a:lnTo>
                  <a:cubicBezTo>
                    <a:pt x="2229316" y="212891"/>
                    <a:pt x="2191409" y="250798"/>
                    <a:pt x="2144649" y="250798"/>
                  </a:cubicBezTo>
                  <a:lnTo>
                    <a:pt x="84667" y="250798"/>
                  </a:lnTo>
                  <a:cubicBezTo>
                    <a:pt x="37907" y="250798"/>
                    <a:pt x="0" y="212891"/>
                    <a:pt x="0" y="166131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2229316" cy="241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7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00050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70350"/>
            <a:ext cx="16230600" cy="2611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91"/>
              </a:lnSpc>
            </a:pPr>
            <a:r>
              <a:rPr lang="en-US" b="true" sz="19305" spc="-559">
                <a:solidFill>
                  <a:srgbClr val="FFFCF7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Terimakasih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7914005"/>
            <a:ext cx="1623060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4400157">
            <a:off x="7118367" y="6116374"/>
            <a:ext cx="323973" cy="323973"/>
          </a:xfrm>
          <a:custGeom>
            <a:avLst/>
            <a:gdLst/>
            <a:ahLst/>
            <a:cxnLst/>
            <a:rect r="r" b="b" t="t" l="l"/>
            <a:pathLst>
              <a:path h="323973" w="323973">
                <a:moveTo>
                  <a:pt x="0" y="0"/>
                </a:moveTo>
                <a:lnTo>
                  <a:pt x="323972" y="0"/>
                </a:lnTo>
                <a:lnTo>
                  <a:pt x="323972" y="323972"/>
                </a:lnTo>
                <a:lnTo>
                  <a:pt x="0" y="3239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07775">
            <a:off x="16334582" y="2923981"/>
            <a:ext cx="1427456" cy="796401"/>
          </a:xfrm>
          <a:custGeom>
            <a:avLst/>
            <a:gdLst/>
            <a:ahLst/>
            <a:cxnLst/>
            <a:rect r="r" b="b" t="t" l="l"/>
            <a:pathLst>
              <a:path h="796401" w="1427456">
                <a:moveTo>
                  <a:pt x="0" y="0"/>
                </a:moveTo>
                <a:lnTo>
                  <a:pt x="1427456" y="0"/>
                </a:lnTo>
                <a:lnTo>
                  <a:pt x="1427456" y="796401"/>
                </a:lnTo>
                <a:lnTo>
                  <a:pt x="0" y="7964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941875"/>
            <a:ext cx="4313806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95" spc="-19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Dr. Faisal Muttaqin, S.Kom, M.T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537386"/>
            <a:ext cx="3680878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95" spc="-194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Dosen Pembimbing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88639" y="8941875"/>
            <a:ext cx="1799704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sz="2495" spc="-19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22081010190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88639" y="8615926"/>
            <a:ext cx="1895776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b="true" sz="2495" spc="-194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NPM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765" y="8941875"/>
            <a:ext cx="2612515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sz="2495" spc="-19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Informatika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46785" y="8615926"/>
            <a:ext cx="2612515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b="true" sz="2495" spc="-194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Program Studi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2506" y="8941875"/>
            <a:ext cx="4666123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95" spc="-194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Budi Mukhamad Mulyo, S.Kom., MT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42506" y="8537386"/>
            <a:ext cx="3468250" cy="36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495" spc="-194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Dosen Pembimbing 2</a:t>
            </a:r>
          </a:p>
        </p:txBody>
      </p:sp>
      <p:grpSp>
        <p:nvGrpSpPr>
          <p:cNvPr name="Group 15" id="15"/>
          <p:cNvGrpSpPr/>
          <p:nvPr/>
        </p:nvGrpSpPr>
        <p:grpSpPr>
          <a:xfrm rot="-172930">
            <a:off x="1028224" y="5914646"/>
            <a:ext cx="7362709" cy="962972"/>
            <a:chOff x="0" y="0"/>
            <a:chExt cx="1939150" cy="2536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9150" cy="253622"/>
            </a:xfrm>
            <a:custGeom>
              <a:avLst/>
              <a:gdLst/>
              <a:ahLst/>
              <a:cxnLst/>
              <a:rect r="r" b="b" t="t" l="l"/>
              <a:pathLst>
                <a:path h="253622" w="1939150">
                  <a:moveTo>
                    <a:pt x="105150" y="0"/>
                  </a:moveTo>
                  <a:lnTo>
                    <a:pt x="1833999" y="0"/>
                  </a:lnTo>
                  <a:cubicBezTo>
                    <a:pt x="1892072" y="0"/>
                    <a:pt x="1939150" y="47077"/>
                    <a:pt x="1939150" y="105150"/>
                  </a:cubicBezTo>
                  <a:lnTo>
                    <a:pt x="1939150" y="148472"/>
                  </a:lnTo>
                  <a:cubicBezTo>
                    <a:pt x="1939150" y="206545"/>
                    <a:pt x="1892072" y="253622"/>
                    <a:pt x="1833999" y="253622"/>
                  </a:cubicBezTo>
                  <a:lnTo>
                    <a:pt x="105150" y="253622"/>
                  </a:lnTo>
                  <a:cubicBezTo>
                    <a:pt x="47077" y="253622"/>
                    <a:pt x="0" y="206545"/>
                    <a:pt x="0" y="148472"/>
                  </a:cubicBezTo>
                  <a:lnTo>
                    <a:pt x="0" y="105150"/>
                  </a:lnTo>
                  <a:cubicBezTo>
                    <a:pt x="0" y="47077"/>
                    <a:pt x="47077" y="0"/>
                    <a:pt x="105150" y="0"/>
                  </a:cubicBezTo>
                  <a:close/>
                </a:path>
              </a:pathLst>
            </a:custGeom>
            <a:solidFill>
              <a:srgbClr val="EF683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939150" cy="244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4400157">
            <a:off x="7843314" y="6483858"/>
            <a:ext cx="731077" cy="73107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CF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3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4400157">
            <a:off x="8046866" y="6687410"/>
            <a:ext cx="323973" cy="323973"/>
          </a:xfrm>
          <a:custGeom>
            <a:avLst/>
            <a:gdLst/>
            <a:ahLst/>
            <a:cxnLst/>
            <a:rect r="r" b="b" t="t" l="l"/>
            <a:pathLst>
              <a:path h="323973" w="323973">
                <a:moveTo>
                  <a:pt x="0" y="0"/>
                </a:moveTo>
                <a:lnTo>
                  <a:pt x="323972" y="0"/>
                </a:lnTo>
                <a:lnTo>
                  <a:pt x="323972" y="323973"/>
                </a:lnTo>
                <a:lnTo>
                  <a:pt x="0" y="323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172930">
            <a:off x="1286261" y="6203398"/>
            <a:ext cx="6916884" cy="40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7"/>
              </a:lnSpc>
            </a:pPr>
            <a:r>
              <a:rPr lang="en-US" b="true" sz="2795" spc="-142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Dipresentasikan oleh Abi Eka Putra Wulyono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DAG6WKMsMVc</dc:identifier>
  <dcterms:modified xsi:type="dcterms:W3CDTF">2011-08-01T06:04:30Z</dcterms:modified>
  <cp:revision>1</cp:revision>
  <dc:title>PPT Final Chapter Part 1</dc:title>
</cp:coreProperties>
</file>